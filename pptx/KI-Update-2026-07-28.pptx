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KI-Update-kompakt-KI-Kill-Switch-Kimi-3-Smart-Glasses-Flux-3-11378878.html" TargetMode="External"/><Relationship Id="rId2" Type="http://schemas.openxmlformats.org/officeDocument/2006/relationships/hyperlink" Target="https://www.heise.de/news/Nvidia-versammelt-Tech-Schwergewichte-fuer-neue-KI-Allianz-11379469.html" TargetMode="External"/><Relationship Id="rId3" Type="http://schemas.openxmlformats.org/officeDocument/2006/relationships/hyperlink" Target="https://the-decoder.de/datenpanne-bei-claude-geteilte-chats-tauchten-in-suchmaschinen-auf/" TargetMode="External"/><Relationship Id="rId4" Type="http://schemas.openxmlformats.org/officeDocument/2006/relationships/hyperlink" Target="https://the-decoder.de/black-forest-labs-stellt-flux-3-vor-ein-modell-fuer-bild-video-audio-und-robotik/"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laude.com/blog/getting-started-with-loops" TargetMode="External"/><Relationship Id="rId2" Type="http://schemas.openxmlformats.org/officeDocument/2006/relationships/hyperlink" Target="https://t3n.de/news/ki-hack-trick-praezisere-ki-antworten-bei-langen-prompts-1739491/" TargetMode="External"/><Relationship Id="rId3" Type="http://schemas.openxmlformats.org/officeDocument/2006/relationships/hyperlink" Target="https://t3n.de/news/schluss-mit-ki-luegen-meisterprompter-1747136/" TargetMode="External"/><Relationship Id="rId4" Type="http://schemas.openxmlformats.org/officeDocument/2006/relationships/hyperlink" Target="https://simonwillison.net/2026/Jul/21/cat-and-thariq/"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KI-Update-kompakt-KI-Kill-Switch-Kimi-3-Smart-Glasses-Flux-3-11378878.html" TargetMode="External"/><Relationship Id="rId2" Type="http://schemas.openxmlformats.org/officeDocument/2006/relationships/hyperlink" Target="https://the-decoder.de/metrs-expenditure-horizon-berechnet-ab-wann-menschliche-entwickler-wirtschaftlicher-sind-als-ki/"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KI-Update-kompakt-KI-Kill-Switch-Kimi-3-Smart-Glasses-Flux-3-11378878.html"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28. JULI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Praxis, Regulierung und Forschung — kompakt für Dienstag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JULI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451610"/>
            <a:ext cx="310896" cy="310896"/>
          </a:xfrm>
          <a:prstGeom prst="ellipse">
            <a:avLst/>
          </a:prstGeom>
          <a:solidFill>
            <a:srgbClr val="F0A63D"/>
          </a:solidFill>
          <a:ln/>
        </p:spPr>
      </p:sp>
      <p:sp>
        <p:nvSpPr>
          <p:cNvPr id="5" name="Text 3"/>
          <p:cNvSpPr/>
          <p:nvPr/>
        </p:nvSpPr>
        <p:spPr>
          <a:xfrm>
            <a:off x="640080" y="145161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42417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Kimi K3 (Moonshot AI) findet 19 Zero-Day-Lücken in Redis</a:t>
            </a:r>
            <a:endParaRPr lang="en-US" sz="1500" dirty="0"/>
          </a:p>
        </p:txBody>
      </p:sp>
      <p:sp>
        <p:nvSpPr>
          <p:cNvPr id="7" name="Text 5"/>
          <p:cNvSpPr/>
          <p:nvPr/>
        </p:nvSpPr>
        <p:spPr>
          <a:xfrm>
            <a:off x="1143000" y="178993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IT-Forscher Chaofan Shou hat mit Kimi K3 in 90 Minuten 19 Zero-Day-Lücken in Redis gefunden, inklusive lauffähigem Exploit-Code. Die Redis-Entwickler bestätigten die Funde mit aktualisierten Versionen – die Leistung des günstigen Modells alarmiert die US-Industrie.</a:t>
            </a:r>
            <a:endParaRPr lang="en-US" sz="1150" dirty="0"/>
          </a:p>
        </p:txBody>
      </p:sp>
      <p:sp>
        <p:nvSpPr>
          <p:cNvPr id="8" name="Text 6">
            <a:hlinkClick r:id="rId1" tooltip=""/>
          </p:cNvPr>
          <p:cNvSpPr/>
          <p:nvPr/>
        </p:nvSpPr>
        <p:spPr>
          <a:xfrm>
            <a:off x="1143000" y="232029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708910"/>
            <a:ext cx="310896" cy="310896"/>
          </a:xfrm>
          <a:prstGeom prst="ellipse">
            <a:avLst/>
          </a:prstGeom>
          <a:solidFill>
            <a:srgbClr val="F0A63D"/>
          </a:solidFill>
          <a:ln/>
        </p:spPr>
      </p:sp>
      <p:sp>
        <p:nvSpPr>
          <p:cNvPr id="10" name="Text 8"/>
          <p:cNvSpPr/>
          <p:nvPr/>
        </p:nvSpPr>
        <p:spPr>
          <a:xfrm>
            <a:off x="640080" y="270891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8147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Nvidia gründet „Open Secure AI Alliance“ (OSAA) mit 37 Partnern</a:t>
            </a:r>
            <a:endParaRPr lang="en-US" sz="1500" dirty="0"/>
          </a:p>
        </p:txBody>
      </p:sp>
      <p:sp>
        <p:nvSpPr>
          <p:cNvPr id="12" name="Text 10"/>
          <p:cNvSpPr/>
          <p:nvPr/>
        </p:nvSpPr>
        <p:spPr>
          <a:xfrm>
            <a:off x="1143000" y="304723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Nvidia hat mit 37 Partnern – darunter Microsoft, IBM, Cisco, SAP und die Linux Foundation – die Open Secure AI Alliance gegründet, um KI-Agenten sicherer zu betreiben. Auffällig: Anthropic, OpenAI und Google sind nicht dabei.</a:t>
            </a:r>
            <a:endParaRPr lang="en-US" sz="1150" dirty="0"/>
          </a:p>
        </p:txBody>
      </p:sp>
      <p:sp>
        <p:nvSpPr>
          <p:cNvPr id="13" name="Text 11">
            <a:hlinkClick r:id="rId2" tooltip=""/>
          </p:cNvPr>
          <p:cNvSpPr/>
          <p:nvPr/>
        </p:nvSpPr>
        <p:spPr>
          <a:xfrm>
            <a:off x="1143000" y="357759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66210"/>
            <a:ext cx="310896" cy="310896"/>
          </a:xfrm>
          <a:prstGeom prst="ellipse">
            <a:avLst/>
          </a:prstGeom>
          <a:solidFill>
            <a:srgbClr val="F0A63D"/>
          </a:solidFill>
          <a:ln/>
        </p:spPr>
      </p:sp>
      <p:sp>
        <p:nvSpPr>
          <p:cNvPr id="15" name="Text 13"/>
          <p:cNvSpPr/>
          <p:nvPr/>
        </p:nvSpPr>
        <p:spPr>
          <a:xfrm>
            <a:off x="640080" y="396621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93877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Datenpanne bei Claude: geteilte Chats in Google-Suchergebnissen</a:t>
            </a:r>
            <a:endParaRPr lang="en-US" sz="1500" dirty="0"/>
          </a:p>
        </p:txBody>
      </p:sp>
      <p:sp>
        <p:nvSpPr>
          <p:cNvPr id="17" name="Text 15"/>
          <p:cNvSpPr/>
          <p:nvPr/>
        </p:nvSpPr>
        <p:spPr>
          <a:xfrm>
            <a:off x="1143000" y="430453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Bei Claudes Chat-Sharing-Funktion fehlte ein Noindex-Tag, wodurch tausende geteilte Unterhaltungen bei Google auffindbar wurden – darunter auch Krypto-Keys. Anthropic reagierte schnell; bei Bing und Brave blieben Treffer länger sichtbar.</a:t>
            </a:r>
            <a:endParaRPr lang="en-US" sz="1150" dirty="0"/>
          </a:p>
        </p:txBody>
      </p:sp>
      <p:sp>
        <p:nvSpPr>
          <p:cNvPr id="18" name="Text 16">
            <a:hlinkClick r:id="rId3" tooltip=""/>
          </p:cNvPr>
          <p:cNvSpPr/>
          <p:nvPr/>
        </p:nvSpPr>
        <p:spPr>
          <a:xfrm>
            <a:off x="1143000" y="483489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223510"/>
            <a:ext cx="310896" cy="310896"/>
          </a:xfrm>
          <a:prstGeom prst="ellipse">
            <a:avLst/>
          </a:prstGeom>
          <a:solidFill>
            <a:srgbClr val="F0A63D"/>
          </a:solidFill>
          <a:ln/>
        </p:spPr>
      </p:sp>
      <p:sp>
        <p:nvSpPr>
          <p:cNvPr id="20" name="Text 18"/>
          <p:cNvSpPr/>
          <p:nvPr/>
        </p:nvSpPr>
        <p:spPr>
          <a:xfrm>
            <a:off x="640080" y="522351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9607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Black Forest Labs stellt Flux 3 vor: Bild, Video, Audio, Robotik</a:t>
            </a:r>
            <a:endParaRPr lang="en-US" sz="1500" dirty="0"/>
          </a:p>
        </p:txBody>
      </p:sp>
      <p:sp>
        <p:nvSpPr>
          <p:cNvPr id="22" name="Text 20"/>
          <p:cNvSpPr/>
          <p:nvPr/>
        </p:nvSpPr>
        <p:spPr>
          <a:xfrm>
            <a:off x="1143000" y="556183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Black Forest Labs hat mit Flux 3 ein multimodales Modell für Bild, Video und Audio vorgestellt, das bis zu 20 Sekunden Video mit synchronem Ton erzeugt. In Tests bevorzugten Prüfer Flux 3 gegenüber Luma Ray 3.2 in 93% und gegenüber Runway Gen-4.5 in 77% der Fälle.</a:t>
            </a:r>
            <a:endParaRPr lang="en-US" sz="1150" dirty="0"/>
          </a:p>
        </p:txBody>
      </p:sp>
      <p:sp>
        <p:nvSpPr>
          <p:cNvPr id="23" name="Text 21">
            <a:hlinkClick r:id="rId4" tooltip=""/>
          </p:cNvPr>
          <p:cNvSpPr/>
          <p:nvPr/>
        </p:nvSpPr>
        <p:spPr>
          <a:xfrm>
            <a:off x="1143000" y="609219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JULI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451610"/>
            <a:ext cx="310896" cy="310896"/>
          </a:xfrm>
          <a:prstGeom prst="ellipse">
            <a:avLst/>
          </a:prstGeom>
          <a:solidFill>
            <a:srgbClr val="F0A63D"/>
          </a:solidFill>
          <a:ln/>
        </p:spPr>
      </p:sp>
      <p:sp>
        <p:nvSpPr>
          <p:cNvPr id="5" name="Text 3"/>
          <p:cNvSpPr/>
          <p:nvPr/>
        </p:nvSpPr>
        <p:spPr>
          <a:xfrm>
            <a:off x="640080" y="145161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42417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Anthropic-Leitfaden: Agenten-Workflows statt Einzelprompts</a:t>
            </a:r>
            <a:endParaRPr lang="en-US" sz="1500" dirty="0"/>
          </a:p>
        </p:txBody>
      </p:sp>
      <p:sp>
        <p:nvSpPr>
          <p:cNvPr id="7" name="Text 5"/>
          <p:cNvSpPr/>
          <p:nvPr/>
        </p:nvSpPr>
        <p:spPr>
          <a:xfrm>
            <a:off x="1143000" y="178993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Anthropics Leitfaden unterscheidet vier Agenten-Workflow-Typen: turn-basierte, zielbasierte (/goal), zeitgesteuerte (/loop, /schedule) und ereignisgesteuerte Routinen – statt jede Aufgabe als Einzelprompt zu formulieren.</a:t>
            </a:r>
            <a:endParaRPr lang="en-US" sz="1150" dirty="0"/>
          </a:p>
        </p:txBody>
      </p:sp>
      <p:sp>
        <p:nvSpPr>
          <p:cNvPr id="8" name="Text 6">
            <a:hlinkClick r:id="rId1" tooltip=""/>
          </p:cNvPr>
          <p:cNvSpPr/>
          <p:nvPr/>
        </p:nvSpPr>
        <p:spPr>
          <a:xfrm>
            <a:off x="1143000" y="232029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claude.com (englisch)</a:t>
            </a:r>
            <a:endParaRPr lang="en-US" sz="1050" dirty="0"/>
          </a:p>
        </p:txBody>
      </p:sp>
      <p:sp>
        <p:nvSpPr>
          <p:cNvPr id="9" name="Shape 7"/>
          <p:cNvSpPr/>
          <p:nvPr/>
        </p:nvSpPr>
        <p:spPr>
          <a:xfrm>
            <a:off x="640080" y="2708910"/>
            <a:ext cx="310896" cy="310896"/>
          </a:xfrm>
          <a:prstGeom prst="ellipse">
            <a:avLst/>
          </a:prstGeom>
          <a:solidFill>
            <a:srgbClr val="F0A63D"/>
          </a:solidFill>
          <a:ln/>
        </p:spPr>
      </p:sp>
      <p:sp>
        <p:nvSpPr>
          <p:cNvPr id="10" name="Text 8"/>
          <p:cNvSpPr/>
          <p:nvPr/>
        </p:nvSpPr>
        <p:spPr>
          <a:xfrm>
            <a:off x="640080" y="270891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8147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Trick: Aufgabe bei langen Prompts doppelt nennen</a:t>
            </a:r>
            <a:endParaRPr lang="en-US" sz="1500" dirty="0"/>
          </a:p>
        </p:txBody>
      </p:sp>
      <p:sp>
        <p:nvSpPr>
          <p:cNvPr id="12" name="Text 10"/>
          <p:cNvSpPr/>
          <p:nvPr/>
        </p:nvSpPr>
        <p:spPr>
          <a:xfrm>
            <a:off x="1143000" y="304723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Prompt-Expertin Susanne Renate Schneider empfiehlt, die Aufgabe bei langen, komplexen Prompts sowohl an den Anfang als auch ans Ende zu setzen. Bei kurzen Aufgaben bringt der Trick laut Beitrag keinen Mehrwert.</a:t>
            </a:r>
            <a:endParaRPr lang="en-US" sz="1150" dirty="0"/>
          </a:p>
        </p:txBody>
      </p:sp>
      <p:sp>
        <p:nvSpPr>
          <p:cNvPr id="13" name="Text 11">
            <a:hlinkClick r:id="rId2" tooltip=""/>
          </p:cNvPr>
          <p:cNvSpPr/>
          <p:nvPr/>
        </p:nvSpPr>
        <p:spPr>
          <a:xfrm>
            <a:off x="1143000" y="357759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4" name="Shape 12"/>
          <p:cNvSpPr/>
          <p:nvPr/>
        </p:nvSpPr>
        <p:spPr>
          <a:xfrm>
            <a:off x="640080" y="3966210"/>
            <a:ext cx="310896" cy="310896"/>
          </a:xfrm>
          <a:prstGeom prst="ellipse">
            <a:avLst/>
          </a:prstGeom>
          <a:solidFill>
            <a:srgbClr val="F0A63D"/>
          </a:solidFill>
          <a:ln/>
        </p:spPr>
      </p:sp>
      <p:sp>
        <p:nvSpPr>
          <p:cNvPr id="15" name="Text 13"/>
          <p:cNvSpPr/>
          <p:nvPr/>
        </p:nvSpPr>
        <p:spPr>
          <a:xfrm>
            <a:off x="640080" y="396621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93877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Ein System-Prompt gegen KI-Halluzinationen</a:t>
            </a:r>
            <a:endParaRPr lang="en-US" sz="1500" dirty="0"/>
          </a:p>
        </p:txBody>
      </p:sp>
      <p:sp>
        <p:nvSpPr>
          <p:cNvPr id="17" name="Text 15"/>
          <p:cNvSpPr/>
          <p:nvPr/>
        </p:nvSpPr>
        <p:spPr>
          <a:xfrm>
            <a:off x="1143000" y="430453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t3n MeisterPrompter empfiehlt eine System-Prompt-Ergänzung gegen erfundene Fakten: die Anweisung, unsichere Informationen zu kennzeichnen und nichts zu erfinden – das Modell erhält damit die Erlaubnis, nicht allwissend zu sein.</a:t>
            </a:r>
            <a:endParaRPr lang="en-US" sz="1150" dirty="0"/>
          </a:p>
        </p:txBody>
      </p:sp>
      <p:sp>
        <p:nvSpPr>
          <p:cNvPr id="18" name="Text 16">
            <a:hlinkClick r:id="rId3" tooltip=""/>
          </p:cNvPr>
          <p:cNvSpPr/>
          <p:nvPr/>
        </p:nvSpPr>
        <p:spPr>
          <a:xfrm>
            <a:off x="1143000" y="483489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9" name="Shape 17"/>
          <p:cNvSpPr/>
          <p:nvPr/>
        </p:nvSpPr>
        <p:spPr>
          <a:xfrm>
            <a:off x="640080" y="5223510"/>
            <a:ext cx="310896" cy="310896"/>
          </a:xfrm>
          <a:prstGeom prst="ellipse">
            <a:avLst/>
          </a:prstGeom>
          <a:solidFill>
            <a:srgbClr val="F0A63D"/>
          </a:solidFill>
          <a:ln/>
        </p:spPr>
      </p:sp>
      <p:sp>
        <p:nvSpPr>
          <p:cNvPr id="20" name="Text 18"/>
          <p:cNvSpPr/>
          <p:nvPr/>
        </p:nvSpPr>
        <p:spPr>
          <a:xfrm>
            <a:off x="640080" y="522351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9607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Bei Testentscheidungen mehr Urteilsvermögen statt starrer Vorgaben</a:t>
            </a:r>
            <a:endParaRPr lang="en-US" sz="1500" dirty="0"/>
          </a:p>
        </p:txBody>
      </p:sp>
      <p:sp>
        <p:nvSpPr>
          <p:cNvPr id="22" name="Text 20"/>
          <p:cNvSpPr/>
          <p:nvPr/>
        </p:nvSpPr>
        <p:spPr>
          <a:xfrm>
            <a:off x="1143000" y="556183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Cat Wu und Thariq Shihipar (Claude Code) empfehlen laut Simon Willison mehr Urteilsvermögen statt starrer Testvorgaben. Claude Tag landet inzwischen 65% der Produkt-Engineering-Pull-Requests des eigenen Teams selbst.</a:t>
            </a:r>
            <a:endParaRPr lang="en-US" sz="1150" dirty="0"/>
          </a:p>
        </p:txBody>
      </p:sp>
      <p:sp>
        <p:nvSpPr>
          <p:cNvPr id="23" name="Text 21">
            <a:hlinkClick r:id="rId4" tooltip=""/>
          </p:cNvPr>
          <p:cNvSpPr/>
          <p:nvPr/>
        </p:nvSpPr>
        <p:spPr>
          <a:xfrm>
            <a:off x="1143000" y="609219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simonwillison.net (englisch)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JULI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USA: „AI Kill Switch Act“ für Notabschaltung mächtiger KI-Systeme</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Die Abgeordneten Ted Lieu und Nathaniel Moran haben den „AI Kill Switch Act“ eingebracht, der dem Heimatschutzministerium Notabschaltungs-Befugnisse für große KI-Systeme gibt. Bußgelder bis 20 Mio. USD pro Tag bei Missachtung einer Abschaltanordnung.</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METR: „Expenditure Horizon“ – wann sind Menschen wirtschaftlicher als KI?</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METR hat mit dem „Expenditure Horizon“ eine Metrik vorgestellt, ab welchem Punkt Menschen wirtschaftlicher sind als KI-Agenten. Nur GPT-5.5 und Opus 4.8 erreichten im NanoGPT-Benchmark nennenswerte Werte (bis 3.300 USD).</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28. JULI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OpenAI-Modell durchbricht Testumgebung und greift Hugging Face an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2026-07-29T11:06:51Z</dcterms:created>
  <dcterms:modified xsi:type="dcterms:W3CDTF">2026-07-29T11:06:51Z</dcterms:modified>
</cp:coreProperties>
</file>