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the-decoder.de/claude-code-bekommt-design-befehl-anthropic-laesst-entwickler-ui-entwuerfe-direkt-im-terminal-erstellen/" TargetMode="External"/><Relationship Id="rId2" Type="http://schemas.openxmlformats.org/officeDocument/2006/relationships/hyperlink" Target="https://www.heise.de/news/ChatGPT-for-Teens-soll-zu-Nutzung-von-KI-mit-Selbstbewusstsein-fuehren-11418666.html" TargetMode="External"/><Relationship Id="rId3" Type="http://schemas.openxmlformats.org/officeDocument/2006/relationships/hyperlink" Target="https://the-decoder.de/neuer-benchmark-vergleicht-such-apis-fuer-ki-agenten/" TargetMode="External"/><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the-decoder.de/us-justizministerium-ermittelt-gegen-investor-andreessen-horowitz-wegen-moeglicher-wettbewerbsverzerrung-im-ki-markt/" TargetMode="External"/><Relationship Id="rId2" Type="http://schemas.openxmlformats.org/officeDocument/2006/relationships/hyperlink" Target="https://t3n.de/news/wie-phishing-mails-durch-einige-ki-modelle-noch-gefaehrlicher-werden-1758203/" TargetMode="External"/><Relationship Id="rId3" Type="http://schemas.openxmlformats.org/officeDocument/2006/relationships/hyperlink" Target="https://www.heise.de/news/KI-kuert-die-besten-Studien-der-Welt-und-spaltet-die-Wissenschaft-11417308.html" TargetMode="External"/><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heise.de/blog/Software-Testing-KI-als-Tester-So-funktioniert-LLM-as-a-Judge-11416849.html" TargetMode="External"/><Relationship Id="rId2" Type="http://schemas.openxmlformats.org/officeDocument/2006/relationships/hyperlink" Target="https://www.heise.de/hintergrund/Harness-Engineering-Wie-KI-Agenten-in-Brownfield-Projekten-produktiv-werden-11414673.html" TargetMode="External"/><Relationship Id="rId3" Type="http://schemas.openxmlformats.org/officeDocument/2006/relationships/hyperlink" Target="https://www.aihero.dev/skills-grill-me" TargetMode="External"/><Relationship Id="rId4" Type="http://schemas.openxmlformats.org/officeDocument/2006/relationships/hyperlink" Target="https://simonwillison.net/" TargetMode="External"/><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9265615" y="-2377440"/>
            <a:ext cx="5852160" cy="5852160"/>
          </a:xfrm>
          <a:prstGeom prst="ellipse">
            <a:avLst/>
          </a:prstGeom>
          <a:solidFill>
            <a:srgbClr val="F0A63D">
              <a:alpha val="12000"/>
            </a:srgbClr>
          </a:solidFill>
          <a:ln/>
        </p:spPr>
      </p:sp>
      <p:sp>
        <p:nvSpPr>
          <p:cNvPr id="3" name="Shape 1"/>
          <p:cNvSpPr/>
          <p:nvPr/>
        </p:nvSpPr>
        <p:spPr>
          <a:xfrm>
            <a:off x="-1463040" y="5029200"/>
            <a:ext cx="3108960" cy="3108960"/>
          </a:xfrm>
          <a:prstGeom prst="ellipse">
            <a:avLst/>
          </a:prstGeom>
          <a:solidFill>
            <a:srgbClr val="F0A63D">
              <a:alpha val="8000"/>
            </a:srgbClr>
          </a:solidFill>
          <a:ln/>
        </p:spPr>
      </p:sp>
      <p:sp>
        <p:nvSpPr>
          <p:cNvPr id="4" name="Text 2"/>
          <p:cNvSpPr/>
          <p:nvPr/>
        </p:nvSpPr>
        <p:spPr>
          <a:xfrm>
            <a:off x="640080" y="822960"/>
            <a:ext cx="7315200" cy="73152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KI-Update</a:t>
            </a:r>
            <a:endParaRPr lang="en-US" sz="4000" dirty="0"/>
          </a:p>
        </p:txBody>
      </p:sp>
      <p:sp>
        <p:nvSpPr>
          <p:cNvPr id="5" name="Text 3"/>
          <p:cNvSpPr/>
          <p:nvPr/>
        </p:nvSpPr>
        <p:spPr>
          <a:xfrm>
            <a:off x="6979615" y="896112"/>
            <a:ext cx="4572000" cy="457200"/>
          </a:xfrm>
          <a:prstGeom prst="rect">
            <a:avLst/>
          </a:prstGeom>
          <a:noFill/>
          <a:ln/>
        </p:spPr>
        <p:txBody>
          <a:bodyPr wrap="square" rtlCol="0" anchor="ctr"/>
          <a:lstStyle/>
          <a:p>
            <a:pPr algn="r" indent="0" marL="0">
              <a:buNone/>
            </a:pPr>
            <a:r>
              <a:rPr lang="en-US" sz="1500" b="1" spc="200" kern="0" dirty="0">
                <a:solidFill>
                  <a:srgbClr val="F0A63D"/>
                </a:solidFill>
                <a:latin typeface="Calibri" pitchFamily="34" charset="0"/>
                <a:ea typeface="Calibri" pitchFamily="34" charset="-122"/>
                <a:cs typeface="Calibri" pitchFamily="34" charset="-120"/>
              </a:rPr>
              <a:t>19. AUGUST 2026</a:t>
            </a:r>
            <a:endParaRPr lang="en-US" sz="1500" dirty="0"/>
          </a:p>
        </p:txBody>
      </p:sp>
      <p:sp>
        <p:nvSpPr>
          <p:cNvPr id="6" name="Text 4"/>
          <p:cNvSpPr/>
          <p:nvPr/>
        </p:nvSpPr>
        <p:spPr>
          <a:xfrm>
            <a:off x="640080" y="1600200"/>
            <a:ext cx="9601200" cy="548640"/>
          </a:xfrm>
          <a:prstGeom prst="rect">
            <a:avLst/>
          </a:prstGeom>
          <a:noFill/>
          <a:ln/>
        </p:spPr>
        <p:txBody>
          <a:bodyPr wrap="square" rtlCol="0" anchor="ctr"/>
          <a:lstStyle/>
          <a:p>
            <a:pPr indent="0" marL="0">
              <a:buNone/>
            </a:pPr>
            <a:r>
              <a:rPr lang="en-US" sz="1600" dirty="0">
                <a:solidFill>
                  <a:srgbClr val="9BA3B0"/>
                </a:solidFill>
                <a:latin typeface="Calibri" pitchFamily="34" charset="0"/>
                <a:ea typeface="Calibri" pitchFamily="34" charset="-122"/>
                <a:cs typeface="Calibri" pitchFamily="34" charset="-120"/>
              </a:rPr>
              <a:t>Der tägliche KI-Digest für Praxis, Regulierung und Forschung</a:t>
            </a:r>
            <a:endParaRPr lang="en-US" sz="1600" dirty="0"/>
          </a:p>
        </p:txBody>
      </p:sp>
      <p:sp>
        <p:nvSpPr>
          <p:cNvPr id="7" name="Text 5"/>
          <p:cNvSpPr/>
          <p:nvPr/>
        </p:nvSpPr>
        <p:spPr>
          <a:xfrm>
            <a:off x="640080"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3</a:t>
            </a:r>
            <a:endParaRPr lang="en-US" sz="4400" dirty="0"/>
          </a:p>
        </p:txBody>
      </p:sp>
      <p:sp>
        <p:nvSpPr>
          <p:cNvPr id="8" name="Text 6"/>
          <p:cNvSpPr/>
          <p:nvPr/>
        </p:nvSpPr>
        <p:spPr>
          <a:xfrm>
            <a:off x="640080"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PRAXIS-NEWS</a:t>
            </a:r>
            <a:endParaRPr lang="en-US" sz="1100" dirty="0"/>
          </a:p>
        </p:txBody>
      </p:sp>
      <p:sp>
        <p:nvSpPr>
          <p:cNvPr id="9" name="Text 7"/>
          <p:cNvSpPr/>
          <p:nvPr/>
        </p:nvSpPr>
        <p:spPr>
          <a:xfrm>
            <a:off x="3367964" y="4572000"/>
            <a:ext cx="2453564" cy="685800"/>
          </a:xfrm>
          <a:prstGeom prst="rect">
            <a:avLst/>
          </a:prstGeom>
          <a:noFill/>
          <a:ln/>
        </p:spPr>
        <p:txBody>
          <a:bodyPr wrap="square" rtlCol="0" anchor="ctr"/>
          <a:lstStyle/>
          <a:p>
            <a:pPr indent="0" marL="0">
              <a:buNone/>
            </a:pPr>
            <a:r>
              <a:rPr lang="en-US" sz="4400" b="1" dirty="0">
                <a:solidFill>
                  <a:srgbClr val="565C68"/>
                </a:solidFill>
                <a:latin typeface="Calibri" pitchFamily="34" charset="0"/>
                <a:ea typeface="Calibri" pitchFamily="34" charset="-122"/>
                <a:cs typeface="Calibri" pitchFamily="34" charset="-120"/>
              </a:rPr>
              <a:t>—</a:t>
            </a:r>
            <a:endParaRPr lang="en-US" sz="4400" dirty="0"/>
          </a:p>
        </p:txBody>
      </p:sp>
      <p:sp>
        <p:nvSpPr>
          <p:cNvPr id="10" name="Text 8"/>
          <p:cNvSpPr/>
          <p:nvPr/>
        </p:nvSpPr>
        <p:spPr>
          <a:xfrm>
            <a:off x="3367964"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TIPPS &amp; TRICKS</a:t>
            </a:r>
            <a:endParaRPr lang="en-US" sz="1100" dirty="0"/>
          </a:p>
        </p:txBody>
      </p:sp>
      <p:sp>
        <p:nvSpPr>
          <p:cNvPr id="11" name="Text 9"/>
          <p:cNvSpPr/>
          <p:nvPr/>
        </p:nvSpPr>
        <p:spPr>
          <a:xfrm>
            <a:off x="6095848"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1</a:t>
            </a:r>
            <a:endParaRPr lang="en-US" sz="4400" dirty="0"/>
          </a:p>
        </p:txBody>
      </p:sp>
      <p:sp>
        <p:nvSpPr>
          <p:cNvPr id="12" name="Text 10"/>
          <p:cNvSpPr/>
          <p:nvPr/>
        </p:nvSpPr>
        <p:spPr>
          <a:xfrm>
            <a:off x="6095848"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REGULIERUNG/POLITIK</a:t>
            </a:r>
            <a:endParaRPr lang="en-US" sz="1100" dirty="0"/>
          </a:p>
        </p:txBody>
      </p:sp>
      <p:sp>
        <p:nvSpPr>
          <p:cNvPr id="13" name="Text 11"/>
          <p:cNvSpPr/>
          <p:nvPr/>
        </p:nvSpPr>
        <p:spPr>
          <a:xfrm>
            <a:off x="8823731"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2</a:t>
            </a:r>
            <a:endParaRPr lang="en-US" sz="4400" dirty="0"/>
          </a:p>
        </p:txBody>
      </p:sp>
      <p:sp>
        <p:nvSpPr>
          <p:cNvPr id="14" name="Text 12"/>
          <p:cNvSpPr/>
          <p:nvPr/>
        </p:nvSpPr>
        <p:spPr>
          <a:xfrm>
            <a:off x="8823731"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BEDEUTENDE FORSCHUNG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19. AUGUST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PRAXIS-NEWS</a:t>
            </a:r>
            <a:endParaRPr lang="en-US" sz="2000" dirty="0"/>
          </a:p>
        </p:txBody>
      </p:sp>
      <p:sp>
        <p:nvSpPr>
          <p:cNvPr id="4" name="Shape 2"/>
          <p:cNvSpPr/>
          <p:nvPr/>
        </p:nvSpPr>
        <p:spPr>
          <a:xfrm>
            <a:off x="640080" y="1528572"/>
            <a:ext cx="310896" cy="310896"/>
          </a:xfrm>
          <a:prstGeom prst="ellipse">
            <a:avLst/>
          </a:prstGeom>
          <a:solidFill>
            <a:srgbClr val="F0A63D"/>
          </a:solidFill>
          <a:ln/>
        </p:spPr>
      </p:sp>
      <p:sp>
        <p:nvSpPr>
          <p:cNvPr id="5" name="Text 3"/>
          <p:cNvSpPr/>
          <p:nvPr/>
        </p:nvSpPr>
        <p:spPr>
          <a:xfrm>
            <a:off x="640080" y="15285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5011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Claude Code: neuer "/design"-Befehl für UI-Entwürfe im Terminal</a:t>
            </a:r>
            <a:endParaRPr lang="en-US" sz="1500" dirty="0"/>
          </a:p>
        </p:txBody>
      </p:sp>
      <p:sp>
        <p:nvSpPr>
          <p:cNvPr id="7" name="Text 5"/>
          <p:cNvSpPr/>
          <p:nvPr/>
        </p:nvSpPr>
        <p:spPr>
          <a:xfrm>
            <a:off x="1143000" y="18669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Anthropic integriert den Workflow von Claude Design direkt in Claude Code: Der Befehl "/design" erzeugt mehrere UI-Entwurfsvarianten ("Artboards") vor dem eigentlichen Coding, liest dabei die bestehende Codebasis und passt sich an den vorhandenen UI-Stil an. Entwürfe werden als teilbares "Artifact" erstellt, Entwickler wählen einen aus und lassen ihn umsetzen; das Speichern muss aktuell noch manuell erfolgen. Verfügbar über "claude update", ergänzt um einen "/design-sync"-Roundtrip zwischen Claude Design und Claude Code.</a:t>
            </a:r>
            <a:endParaRPr lang="en-US" sz="1150" dirty="0"/>
          </a:p>
        </p:txBody>
      </p:sp>
      <p:sp>
        <p:nvSpPr>
          <p:cNvPr id="8" name="Text 6">
            <a:hlinkClick r:id="rId1" tooltip=""/>
          </p:cNvPr>
          <p:cNvSpPr/>
          <p:nvPr/>
        </p:nvSpPr>
        <p:spPr>
          <a:xfrm>
            <a:off x="1143000" y="26624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9" name="Shape 7"/>
          <p:cNvSpPr/>
          <p:nvPr/>
        </p:nvSpPr>
        <p:spPr>
          <a:xfrm>
            <a:off x="640080" y="3204972"/>
            <a:ext cx="310896" cy="310896"/>
          </a:xfrm>
          <a:prstGeom prst="ellipse">
            <a:avLst/>
          </a:prstGeom>
          <a:solidFill>
            <a:srgbClr val="F0A63D"/>
          </a:solidFill>
          <a:ln/>
        </p:spPr>
      </p:sp>
      <p:sp>
        <p:nvSpPr>
          <p:cNvPr id="10" name="Text 8"/>
          <p:cNvSpPr/>
          <p:nvPr/>
        </p:nvSpPr>
        <p:spPr>
          <a:xfrm>
            <a:off x="640080" y="32049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31775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OpenAI startet "ChatGPT for Teens" mit strengeren Schutzregeln</a:t>
            </a:r>
            <a:endParaRPr lang="en-US" sz="1500" dirty="0"/>
          </a:p>
        </p:txBody>
      </p:sp>
      <p:sp>
        <p:nvSpPr>
          <p:cNvPr id="12" name="Text 10"/>
          <p:cNvSpPr/>
          <p:nvPr/>
        </p:nvSpPr>
        <p:spPr>
          <a:xfrm>
            <a:off x="1143000" y="35433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OpenAI führt mit "ChatGPT for Teens" eine eigene Variante für 13- bis 17-Jährige ein, die automatisch aktiviert wird, sobald eine Altersschätzung einen minderjährigen Nutzer erkennt oder dieser sich selbst als minderjährig angibt. Eltern können "Ruhezeiten" und feste Hausaufgabenzeiten festlegen, in denen ein "Study Mode" aktiv ist, der per Leitfragen statt fertiger Lösungen zum eigenständigen Denken anleitet. Der Start erfolgt vor dem Hintergrund mehrerer Klagen gegen OpenAI wegen Vorfällen mit Minderjährigen; ergänzend läuft "ChatGPT for Teachers" bis Juni 2027 kostenlos.</a:t>
            </a:r>
            <a:endParaRPr lang="en-US" sz="1150" dirty="0"/>
          </a:p>
        </p:txBody>
      </p:sp>
      <p:sp>
        <p:nvSpPr>
          <p:cNvPr id="13" name="Text 11">
            <a:hlinkClick r:id="rId2" tooltip=""/>
          </p:cNvPr>
          <p:cNvSpPr/>
          <p:nvPr/>
        </p:nvSpPr>
        <p:spPr>
          <a:xfrm>
            <a:off x="1143000" y="43388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14" name="Shape 12"/>
          <p:cNvSpPr/>
          <p:nvPr/>
        </p:nvSpPr>
        <p:spPr>
          <a:xfrm>
            <a:off x="640080" y="4881372"/>
            <a:ext cx="310896" cy="310896"/>
          </a:xfrm>
          <a:prstGeom prst="ellipse">
            <a:avLst/>
          </a:prstGeom>
          <a:solidFill>
            <a:srgbClr val="F0A63D"/>
          </a:solidFill>
          <a:ln/>
        </p:spPr>
      </p:sp>
      <p:sp>
        <p:nvSpPr>
          <p:cNvPr id="15" name="Text 13"/>
          <p:cNvSpPr/>
          <p:nvPr/>
        </p:nvSpPr>
        <p:spPr>
          <a:xfrm>
            <a:off x="640080" y="48813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48539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Artificial Analysis stellt Benchmark "Search Index" für Such-APIs von KI-Agenten vor</a:t>
            </a:r>
            <a:endParaRPr lang="en-US" sz="1500" dirty="0"/>
          </a:p>
        </p:txBody>
      </p:sp>
      <p:sp>
        <p:nvSpPr>
          <p:cNvPr id="17" name="Text 15"/>
          <p:cNvSpPr/>
          <p:nvPr/>
        </p:nvSpPr>
        <p:spPr>
          <a:xfrm>
            <a:off x="1143000" y="52197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Artificial Analysis vergleicht mit dem neuen "Search Index" sieben Such-API-Anbieter (Parallel, Exa, Firecrawl, You.com, Tavily, Keenable, Brave), jeweils getestet mit GPT-5.6 Luna. Ohne Suchzugriff erreicht das Modell 33 Punkte, mit Suchzugriff 65 bis 75 Punkte; an der Spitze liegen Parallel (75), Exa (74) und Firecrawl (73). Der Index kombiniert drei Tests (DeepSearchQA, BrowseComp-Subset, AA-Omniscience) und nutzt das neue Testframework "Stirrup".</a:t>
            </a:r>
            <a:endParaRPr lang="en-US" sz="1150" dirty="0"/>
          </a:p>
        </p:txBody>
      </p:sp>
      <p:sp>
        <p:nvSpPr>
          <p:cNvPr id="18" name="Text 16">
            <a:hlinkClick r:id="rId3" tooltip=""/>
          </p:cNvPr>
          <p:cNvSpPr/>
          <p:nvPr/>
        </p:nvSpPr>
        <p:spPr>
          <a:xfrm>
            <a:off x="1143000" y="60152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19. AUGUST 2026</a:t>
            </a:r>
            <a:endParaRPr lang="en-US" sz="1100" dirty="0"/>
          </a:p>
        </p:txBody>
      </p:sp>
      <p:sp>
        <p:nvSpPr>
          <p:cNvPr id="3" name="Shape 1"/>
          <p:cNvSpPr/>
          <p:nvPr/>
        </p:nvSpPr>
        <p:spPr>
          <a:xfrm>
            <a:off x="6095848" y="1371600"/>
            <a:ext cx="0" cy="5029200"/>
          </a:xfrm>
          <a:prstGeom prst="line">
            <a:avLst/>
          </a:prstGeom>
          <a:noFill/>
          <a:ln w="9525">
            <a:solidFill>
              <a:srgbClr val="E7E4DE"/>
            </a:solidFill>
            <a:prstDash val="solid"/>
          </a:ln>
        </p:spPr>
      </p:sp>
      <p:sp>
        <p:nvSpPr>
          <p:cNvPr id="4" name="Text 2"/>
          <p:cNvSpPr/>
          <p:nvPr/>
        </p:nvSpPr>
        <p:spPr>
          <a:xfrm>
            <a:off x="640080"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REGULIERUNG/POLITIK</a:t>
            </a:r>
            <a:endParaRPr lang="en-US" sz="1600" dirty="0"/>
          </a:p>
        </p:txBody>
      </p:sp>
      <p:sp>
        <p:nvSpPr>
          <p:cNvPr id="5" name="Text 3"/>
          <p:cNvSpPr/>
          <p:nvPr/>
        </p:nvSpPr>
        <p:spPr>
          <a:xfrm>
            <a:off x="640080"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US-Justizministerium ermittelt gegen Andreessen Horowitz wegen möglicher Wettbewerbsverzerrung im KI-Markt</a:t>
            </a:r>
            <a:endParaRPr lang="en-US" sz="1500" dirty="0"/>
          </a:p>
        </p:txBody>
      </p:sp>
      <p:sp>
        <p:nvSpPr>
          <p:cNvPr id="6" name="Text 4"/>
          <p:cNvSpPr/>
          <p:nvPr/>
        </p:nvSpPr>
        <p:spPr>
          <a:xfrm>
            <a:off x="640080"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Das DOJ hat eine kartellrechtliche Untersuchung gegen die VC-Firma a16z eingeleitet, gestützt auf ein Gesetz von 1914 gegen "interlocking directorates" – konkret betroffen sind a16z-Partner Ben Horowitz (Vorstand Databricks) und Martin Casado (Vorstand Fivetran). Die Ermittlung begann etwa zeitgleich mit der Fusion von Fivetran und dbt Labs im Juni 2026 und richtet sich ungewöhnlich gegen die Investmentfirma selbst statt nur gegen die Einzelpersonen.</a:t>
            </a:r>
            <a:endParaRPr lang="en-US" sz="1200" dirty="0"/>
          </a:p>
        </p:txBody>
      </p:sp>
      <p:sp>
        <p:nvSpPr>
          <p:cNvPr id="7" name="Text 5">
            <a:hlinkClick r:id="rId1" tooltip=""/>
          </p:cNvPr>
          <p:cNvSpPr/>
          <p:nvPr/>
        </p:nvSpPr>
        <p:spPr>
          <a:xfrm>
            <a:off x="640080"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8" name="Text 6"/>
          <p:cNvSpPr/>
          <p:nvPr/>
        </p:nvSpPr>
        <p:spPr>
          <a:xfrm>
            <a:off x="6370168"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BEDEUTENDE FORSCHUNG</a:t>
            </a:r>
            <a:endParaRPr lang="en-US" sz="1600" dirty="0"/>
          </a:p>
        </p:txBody>
      </p:sp>
      <p:sp>
        <p:nvSpPr>
          <p:cNvPr id="9" name="Text 7"/>
          <p:cNvSpPr/>
          <p:nvPr/>
        </p:nvSpPr>
        <p:spPr>
          <a:xfrm>
            <a:off x="6370168"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Studie: KI-personalisiertes Phishing verdreifacht Klickraten</a:t>
            </a:r>
            <a:endParaRPr lang="en-US" sz="1500" dirty="0"/>
          </a:p>
        </p:txBody>
      </p:sp>
      <p:sp>
        <p:nvSpPr>
          <p:cNvPr id="10" name="Text 8"/>
          <p:cNvSpPr/>
          <p:nvPr/>
        </p:nvSpPr>
        <p:spPr>
          <a:xfrm>
            <a:off x="6370168"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Forschende der TU Berlin, von Inria und der Ruhr-Uni Bochum testeten rund 4.000 KI-generierte Phishing-Mails: Mit kleinen, lokal laufenden Sprachmodellen personalisierte Nachrichten erreichten 10,0 Prozent Klickrate gegenüber 3,9 Prozent bei generischen Phishing-Mails. Von Menschen personalisierte Mails kamen auf 24,2 Prozent, benötigten aber rund sieben Minuten Aufwand pro Mail gegenüber 45 Sekunden beim KI-Workflow; bestehende Sicherheitssysteme erkannten nur eine von knapp 4.000 KI-Mails.</a:t>
            </a:r>
            <a:endParaRPr lang="en-US" sz="1200" dirty="0"/>
          </a:p>
        </p:txBody>
      </p:sp>
      <p:sp>
        <p:nvSpPr>
          <p:cNvPr id="11" name="Text 9">
            <a:hlinkClick r:id="rId2" tooltip=""/>
          </p:cNvPr>
          <p:cNvSpPr/>
          <p:nvPr/>
        </p:nvSpPr>
        <p:spPr>
          <a:xfrm>
            <a:off x="6370168"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t3n.de</a:t>
            </a:r>
            <a:endParaRPr lang="en-US" sz="1050" dirty="0"/>
          </a:p>
        </p:txBody>
      </p:sp>
      <p:sp>
        <p:nvSpPr>
          <p:cNvPr id="12" name="Text 10"/>
          <p:cNvSpPr/>
          <p:nvPr/>
        </p:nvSpPr>
        <p:spPr>
          <a:xfrm>
            <a:off x="6370168" y="4133088"/>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KI-System bewertet wissenschaftliche Papers und spaltet die Forschungscommunity</a:t>
            </a:r>
            <a:endParaRPr lang="en-US" sz="1500" dirty="0"/>
          </a:p>
        </p:txBody>
      </p:sp>
      <p:sp>
        <p:nvSpPr>
          <p:cNvPr id="13" name="Text 11"/>
          <p:cNvSpPr/>
          <p:nvPr/>
        </p:nvSpPr>
        <p:spPr>
          <a:xfrm>
            <a:off x="6370168" y="4700016"/>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Das israelische Startup QED Science hat mit einer Multi-Agent-KI-Architektur ("Science Validity Engine") 57.455 bioRxiv-Preprints automatisiert bewertet und daraus einen Perzentilrang berechnet; 574 Arbeiten erreichten das 99. Perzentil. Kritiker bemängeln fehlende Transparenz und mögliche Verzerrungen, Mitgründer Niv Mastboim verteidigt das Verfahren gegenüber Nature.</a:t>
            </a:r>
            <a:endParaRPr lang="en-US" sz="1200" dirty="0"/>
          </a:p>
        </p:txBody>
      </p:sp>
      <p:sp>
        <p:nvSpPr>
          <p:cNvPr id="14" name="Text 12">
            <a:hlinkClick r:id="rId3" tooltip=""/>
          </p:cNvPr>
          <p:cNvSpPr/>
          <p:nvPr/>
        </p:nvSpPr>
        <p:spPr>
          <a:xfrm>
            <a:off x="6370168" y="6894576"/>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19. AUGUST 2026</a:t>
            </a:r>
            <a:endParaRPr lang="en-US" sz="1100" dirty="0"/>
          </a:p>
        </p:txBody>
      </p:sp>
      <p:sp>
        <p:nvSpPr>
          <p:cNvPr id="3" name="Text 1"/>
          <p:cNvSpPr/>
          <p:nvPr/>
        </p:nvSpPr>
        <p:spPr>
          <a:xfrm>
            <a:off x="640080" y="777240"/>
            <a:ext cx="10911535" cy="457200"/>
          </a:xfrm>
          <a:prstGeom prst="rect">
            <a:avLst/>
          </a:prstGeom>
          <a:noFill/>
          <a:ln/>
        </p:spPr>
        <p:txBody>
          <a:bodyPr wrap="square" rtlCol="0" anchor="ctr"/>
          <a:lstStyle/>
          <a:p>
            <a:pPr indent="0" marL="0">
              <a:buNone/>
            </a:pPr>
            <a:r>
              <a:rPr lang="en-US" sz="2000" b="1" dirty="0">
                <a:solidFill>
                  <a:srgbClr val="1C1F26"/>
                </a:solidFill>
                <a:latin typeface="Calibri" pitchFamily="34" charset="0"/>
                <a:ea typeface="Calibri" pitchFamily="34" charset="-122"/>
                <a:cs typeface="Calibri" pitchFamily="34" charset="-120"/>
              </a:rPr>
              <a:t>Weitere gesichtete, aber ausgelassene Punkte</a:t>
            </a:r>
            <a:endParaRPr lang="en-US" sz="2000" dirty="0"/>
          </a:p>
        </p:txBody>
      </p:sp>
      <p:sp>
        <p:nvSpPr>
          <p:cNvPr id="4" name="Text 2"/>
          <p:cNvSpPr/>
          <p:nvPr/>
        </p:nvSpPr>
        <p:spPr>
          <a:xfrm>
            <a:off x="640080" y="1417320"/>
            <a:ext cx="10911535" cy="4983480"/>
          </a:xfrm>
          <a:prstGeom prst="rect">
            <a:avLst/>
          </a:prstGeom>
          <a:noFill/>
          <a:ln/>
        </p:spPr>
        <p:txBody>
          <a:bodyPr wrap="square" rtlCol="0" anchor="t"/>
          <a:lstStyle/>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Software Testing: LLM-as-a-Judge</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Harness Engineering: KI-Agenten in Brownfield-Projekten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aihero.dev "/grill-me"-Skill</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(aihero.dev)</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Simon Willisons Blog, Einträge 15.-18.08.2026</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(simonwillison.net)</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2026-08-19T06:19:02Z</dcterms:created>
  <dcterms:modified xsi:type="dcterms:W3CDTF">2026-08-19T06:19:02Z</dcterms:modified>
</cp:coreProperties>
</file>