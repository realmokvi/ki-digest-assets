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www.heise.de/news/Gemini-Argon-war-gestern-jetzt-kommt-Carbon-11503849.html" TargetMode="External"/><Relationship Id="rId2" Type="http://schemas.openxmlformats.org/officeDocument/2006/relationships/hyperlink" Target="https://the-decoder.de/nemotron-3-5-transcribe-nvidias-offenes-modell-vereint-transkription-uebersetzung-und-sprechererkennung/" TargetMode="External"/><Relationship Id="rId3" Type="http://schemas.openxmlformats.org/officeDocument/2006/relationships/hyperlink" Target="https://the-decoder.de/google-oeffnet-android-entwicklung-fuer-externe-ki-agenten-und-stellt-neue-gemini-apis-vor/" TargetMode="External"/><Relationship Id="rId4" Type="http://schemas.openxmlformats.org/officeDocument/2006/relationships/hyperlink" Target="https://www.heise.de/news/Copilot-Access-GitHub-macht-Copilot-fuer-Enterprise-Kunden-verfuegbar-11503777.html" TargetMode="External"/><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the-decoder.de/ki-modelle-verschweigen-fehler-in-arbeitsberichten-doch-ein-einziger-satz-im-prompt-hilft-oft/" TargetMode="External"/><Relationship Id="rId2" Type="http://schemas.openxmlformats.org/officeDocument/2006/relationships/hyperlink" Target="https://t3n-meisterprompter.podigee.io/97-gefallsuechtige-ki-umgang" TargetMode="External"/><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www.heise.de/news/Cisco-Netzwerke-ueber-MCP-verwalten-11503086.html" TargetMode="External"/><Relationship Id="rId2" Type="http://schemas.openxmlformats.org/officeDocument/2006/relationships/hyperlink" Target="https://www.heise.de/news/KI-Agenten-an-der-kurzen-Leine-PipesHub-durchsucht-das-Firmenwissen-11502811.html" TargetMode="External"/><Relationship Id="rId3" Type="http://schemas.openxmlformats.org/officeDocument/2006/relationships/hyperlink" Target="https://the-decoder.de/devday-in-berlin-openai-stellt-dots-fuer-europa-in-aussicht-und-treibt-den-ausbau-zur-plattform-voran/" TargetMode="External"/><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6"/>
        </a:solidFill>
      </p:bgPr>
    </p:bg>
    <p:spTree>
      <p:nvGrpSpPr>
        <p:cNvPr id="1" name=""/>
        <p:cNvGrpSpPr/>
        <p:nvPr/>
      </p:nvGrpSpPr>
      <p:grpSpPr>
        <a:xfrm>
          <a:off x="0" y="0"/>
          <a:ext cx="0" cy="0"/>
          <a:chOff x="0" y="0"/>
          <a:chExt cx="0" cy="0"/>
        </a:xfrm>
      </p:grpSpPr>
      <p:sp>
        <p:nvSpPr>
          <p:cNvPr id="2" name="Shape 0"/>
          <p:cNvSpPr/>
          <p:nvPr/>
        </p:nvSpPr>
        <p:spPr>
          <a:xfrm>
            <a:off x="9265615" y="-2377440"/>
            <a:ext cx="5852160" cy="5852160"/>
          </a:xfrm>
          <a:prstGeom prst="ellipse">
            <a:avLst/>
          </a:prstGeom>
          <a:solidFill>
            <a:srgbClr val="F0A63D">
              <a:alpha val="12000"/>
            </a:srgbClr>
          </a:solidFill>
          <a:ln/>
        </p:spPr>
      </p:sp>
      <p:sp>
        <p:nvSpPr>
          <p:cNvPr id="3" name="Shape 1"/>
          <p:cNvSpPr/>
          <p:nvPr/>
        </p:nvSpPr>
        <p:spPr>
          <a:xfrm>
            <a:off x="-1463040" y="5029200"/>
            <a:ext cx="3108960" cy="3108960"/>
          </a:xfrm>
          <a:prstGeom prst="ellipse">
            <a:avLst/>
          </a:prstGeom>
          <a:solidFill>
            <a:srgbClr val="F0A63D">
              <a:alpha val="8000"/>
            </a:srgbClr>
          </a:solidFill>
          <a:ln/>
        </p:spPr>
      </p:sp>
      <p:sp>
        <p:nvSpPr>
          <p:cNvPr id="4" name="Text 2"/>
          <p:cNvSpPr/>
          <p:nvPr/>
        </p:nvSpPr>
        <p:spPr>
          <a:xfrm>
            <a:off x="640080" y="822960"/>
            <a:ext cx="7315200" cy="73152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KI-Update</a:t>
            </a:r>
            <a:endParaRPr lang="en-US" sz="4000" dirty="0"/>
          </a:p>
        </p:txBody>
      </p:sp>
      <p:sp>
        <p:nvSpPr>
          <p:cNvPr id="5" name="Text 3"/>
          <p:cNvSpPr/>
          <p:nvPr/>
        </p:nvSpPr>
        <p:spPr>
          <a:xfrm>
            <a:off x="6979615" y="896112"/>
            <a:ext cx="4572000" cy="457200"/>
          </a:xfrm>
          <a:prstGeom prst="rect">
            <a:avLst/>
          </a:prstGeom>
          <a:noFill/>
          <a:ln/>
        </p:spPr>
        <p:txBody>
          <a:bodyPr wrap="square" rtlCol="0" anchor="ctr"/>
          <a:lstStyle/>
          <a:p>
            <a:pPr algn="r" indent="0" marL="0">
              <a:buNone/>
            </a:pPr>
            <a:r>
              <a:rPr lang="en-US" sz="1500" b="1" spc="200" kern="0" dirty="0">
                <a:solidFill>
                  <a:srgbClr val="F0A63D"/>
                </a:solidFill>
                <a:latin typeface="Calibri" pitchFamily="34" charset="0"/>
                <a:ea typeface="Calibri" pitchFamily="34" charset="-122"/>
                <a:cs typeface="Calibri" pitchFamily="34" charset="-120"/>
              </a:rPr>
              <a:t>29. OKTOBER 2026</a:t>
            </a:r>
            <a:endParaRPr lang="en-US" sz="1500" dirty="0"/>
          </a:p>
        </p:txBody>
      </p:sp>
      <p:sp>
        <p:nvSpPr>
          <p:cNvPr id="6" name="Text 4"/>
          <p:cNvSpPr/>
          <p:nvPr/>
        </p:nvSpPr>
        <p:spPr>
          <a:xfrm>
            <a:off x="640080" y="1600200"/>
            <a:ext cx="9601200" cy="548640"/>
          </a:xfrm>
          <a:prstGeom prst="rect">
            <a:avLst/>
          </a:prstGeom>
          <a:noFill/>
          <a:ln/>
        </p:spPr>
        <p:txBody>
          <a:bodyPr wrap="square" rtlCol="0" anchor="ctr"/>
          <a:lstStyle/>
          <a:p>
            <a:pPr indent="0" marL="0">
              <a:buNone/>
            </a:pPr>
            <a:r>
              <a:rPr lang="en-US" sz="1600" dirty="0">
                <a:solidFill>
                  <a:srgbClr val="9BA3B0"/>
                </a:solidFill>
                <a:latin typeface="Calibri" pitchFamily="34" charset="0"/>
                <a:ea typeface="Calibri" pitchFamily="34" charset="-122"/>
                <a:cs typeface="Calibri" pitchFamily="34" charset="-120"/>
              </a:rPr>
              <a:t>Der tägliche KI-Digest für Praxis, Regulierung und Forschung</a:t>
            </a:r>
            <a:endParaRPr lang="en-US" sz="1600" dirty="0"/>
          </a:p>
        </p:txBody>
      </p:sp>
      <p:sp>
        <p:nvSpPr>
          <p:cNvPr id="7" name="Text 5"/>
          <p:cNvSpPr/>
          <p:nvPr/>
        </p:nvSpPr>
        <p:spPr>
          <a:xfrm>
            <a:off x="640080"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4</a:t>
            </a:r>
            <a:endParaRPr lang="en-US" sz="4400" dirty="0"/>
          </a:p>
        </p:txBody>
      </p:sp>
      <p:sp>
        <p:nvSpPr>
          <p:cNvPr id="8" name="Text 6"/>
          <p:cNvSpPr/>
          <p:nvPr/>
        </p:nvSpPr>
        <p:spPr>
          <a:xfrm>
            <a:off x="640080"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PRAXIS-NEWS</a:t>
            </a:r>
            <a:endParaRPr lang="en-US" sz="1100" dirty="0"/>
          </a:p>
        </p:txBody>
      </p:sp>
      <p:sp>
        <p:nvSpPr>
          <p:cNvPr id="9" name="Text 7"/>
          <p:cNvSpPr/>
          <p:nvPr/>
        </p:nvSpPr>
        <p:spPr>
          <a:xfrm>
            <a:off x="3367964"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2</a:t>
            </a:r>
            <a:endParaRPr lang="en-US" sz="4400" dirty="0"/>
          </a:p>
        </p:txBody>
      </p:sp>
      <p:sp>
        <p:nvSpPr>
          <p:cNvPr id="10" name="Text 8"/>
          <p:cNvSpPr/>
          <p:nvPr/>
        </p:nvSpPr>
        <p:spPr>
          <a:xfrm>
            <a:off x="3367964"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TIPPS &amp; TRICKS</a:t>
            </a:r>
            <a:endParaRPr lang="en-US" sz="1100" dirty="0"/>
          </a:p>
        </p:txBody>
      </p:sp>
      <p:sp>
        <p:nvSpPr>
          <p:cNvPr id="11" name="Text 9"/>
          <p:cNvSpPr/>
          <p:nvPr/>
        </p:nvSpPr>
        <p:spPr>
          <a:xfrm>
            <a:off x="6095848" y="4572000"/>
            <a:ext cx="2453564" cy="685800"/>
          </a:xfrm>
          <a:prstGeom prst="rect">
            <a:avLst/>
          </a:prstGeom>
          <a:noFill/>
          <a:ln/>
        </p:spPr>
        <p:txBody>
          <a:bodyPr wrap="square" rtlCol="0" anchor="ctr"/>
          <a:lstStyle/>
          <a:p>
            <a:pPr indent="0" marL="0">
              <a:buNone/>
            </a:pPr>
            <a:r>
              <a:rPr lang="en-US" sz="4400" b="1" dirty="0">
                <a:solidFill>
                  <a:srgbClr val="565C68"/>
                </a:solidFill>
                <a:latin typeface="Calibri" pitchFamily="34" charset="0"/>
                <a:ea typeface="Calibri" pitchFamily="34" charset="-122"/>
                <a:cs typeface="Calibri" pitchFamily="34" charset="-120"/>
              </a:rPr>
              <a:t>—</a:t>
            </a:r>
            <a:endParaRPr lang="en-US" sz="4400" dirty="0"/>
          </a:p>
        </p:txBody>
      </p:sp>
      <p:sp>
        <p:nvSpPr>
          <p:cNvPr id="12" name="Text 10"/>
          <p:cNvSpPr/>
          <p:nvPr/>
        </p:nvSpPr>
        <p:spPr>
          <a:xfrm>
            <a:off x="6095848"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REGULIERUNG/POLITIK</a:t>
            </a:r>
            <a:endParaRPr lang="en-US" sz="1100" dirty="0"/>
          </a:p>
        </p:txBody>
      </p:sp>
      <p:sp>
        <p:nvSpPr>
          <p:cNvPr id="13" name="Text 11"/>
          <p:cNvSpPr/>
          <p:nvPr/>
        </p:nvSpPr>
        <p:spPr>
          <a:xfrm>
            <a:off x="8823731" y="4572000"/>
            <a:ext cx="2453564" cy="685800"/>
          </a:xfrm>
          <a:prstGeom prst="rect">
            <a:avLst/>
          </a:prstGeom>
          <a:noFill/>
          <a:ln/>
        </p:spPr>
        <p:txBody>
          <a:bodyPr wrap="square" rtlCol="0" anchor="ctr"/>
          <a:lstStyle/>
          <a:p>
            <a:pPr indent="0" marL="0">
              <a:buNone/>
            </a:pPr>
            <a:r>
              <a:rPr lang="en-US" sz="4400" b="1" dirty="0">
                <a:solidFill>
                  <a:srgbClr val="565C68"/>
                </a:solidFill>
                <a:latin typeface="Calibri" pitchFamily="34" charset="0"/>
                <a:ea typeface="Calibri" pitchFamily="34" charset="-122"/>
                <a:cs typeface="Calibri" pitchFamily="34" charset="-120"/>
              </a:rPr>
              <a:t>—</a:t>
            </a:r>
            <a:endParaRPr lang="en-US" sz="4400" dirty="0"/>
          </a:p>
        </p:txBody>
      </p:sp>
      <p:sp>
        <p:nvSpPr>
          <p:cNvPr id="14" name="Text 12"/>
          <p:cNvSpPr/>
          <p:nvPr/>
        </p:nvSpPr>
        <p:spPr>
          <a:xfrm>
            <a:off x="8823731"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BEDEUTENDE FORSCHUNG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29. OKTOBER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PRAXIS-NEWS</a:t>
            </a:r>
            <a:endParaRPr lang="en-US" sz="2000" dirty="0"/>
          </a:p>
        </p:txBody>
      </p:sp>
      <p:sp>
        <p:nvSpPr>
          <p:cNvPr id="4" name="Shape 2"/>
          <p:cNvSpPr/>
          <p:nvPr/>
        </p:nvSpPr>
        <p:spPr>
          <a:xfrm>
            <a:off x="640080" y="1399032"/>
            <a:ext cx="310896" cy="310896"/>
          </a:xfrm>
          <a:prstGeom prst="ellipse">
            <a:avLst/>
          </a:prstGeom>
          <a:solidFill>
            <a:srgbClr val="F0A63D"/>
          </a:solidFill>
          <a:ln/>
        </p:spPr>
      </p:sp>
      <p:sp>
        <p:nvSpPr>
          <p:cNvPr id="5" name="Text 3"/>
          <p:cNvSpPr/>
          <p:nvPr/>
        </p:nvSpPr>
        <p:spPr>
          <a:xfrm>
            <a:off x="640080" y="13990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3716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Google stellt Gemini 4 Carbon vor – Spezialmodell für Cyberabwehr</a:t>
            </a:r>
            <a:endParaRPr lang="en-US" sz="1500" dirty="0"/>
          </a:p>
        </p:txBody>
      </p:sp>
      <p:sp>
        <p:nvSpPr>
          <p:cNvPr id="7" name="Text 5"/>
          <p:cNvSpPr/>
          <p:nvPr/>
        </p:nvSpPr>
        <p:spPr>
          <a:xfrm>
            <a:off x="1143000" y="17373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Google hat mit Gemini 4 Carbon den Nachfolger von Gemini 4 Argon vorgestellt, das erst rund vier Wochen zuvor erschienen war – diesmal mit Fokus auf Cyberabwehr und lange Agenten-Workflows. Auf eigenen Benchmarks erreicht Carbon rund 55% auf "Exploitgym" (Argon: 42%), rund 88% auf "SEC-bench Pro" und 71% auf "CWE-bench" zum Schließen von Sicherheitslücken – laut Google jeweils vor GPT-6 Astra; bislang sei zudem kein Prompt-Injection-Versuch gegen Carbon erfolgreich gewesen. Die API kostet 4 USD/Mio. Input- und 20 USD/Mio. Output-Token (zum Start 50% Rabatt), verfügbar ist das Modell aber vorerst nur für US-Geheimdienste und ausgewählte Partner über Googles Fairwind-Programm.</a:t>
            </a:r>
            <a:endParaRPr lang="en-US" sz="1150" dirty="0"/>
          </a:p>
        </p:txBody>
      </p:sp>
      <p:sp>
        <p:nvSpPr>
          <p:cNvPr id="8" name="Text 6">
            <a:hlinkClick r:id="rId1" tooltip=""/>
          </p:cNvPr>
          <p:cNvSpPr/>
          <p:nvPr/>
        </p:nvSpPr>
        <p:spPr>
          <a:xfrm>
            <a:off x="1143000" y="25328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9" name="Shape 7"/>
          <p:cNvSpPr/>
          <p:nvPr/>
        </p:nvSpPr>
        <p:spPr>
          <a:xfrm>
            <a:off x="640080" y="2656332"/>
            <a:ext cx="310896" cy="310896"/>
          </a:xfrm>
          <a:prstGeom prst="ellipse">
            <a:avLst/>
          </a:prstGeom>
          <a:solidFill>
            <a:srgbClr val="F0A63D"/>
          </a:solidFill>
          <a:ln/>
        </p:spPr>
      </p:sp>
      <p:sp>
        <p:nvSpPr>
          <p:cNvPr id="10" name="Text 8"/>
          <p:cNvSpPr/>
          <p:nvPr/>
        </p:nvSpPr>
        <p:spPr>
          <a:xfrm>
            <a:off x="640080" y="26563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26289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Nvidia veröffentlicht offenes Sprachmodell Nemotron 3.5 Transcribe</a:t>
            </a:r>
            <a:endParaRPr lang="en-US" sz="1500" dirty="0"/>
          </a:p>
        </p:txBody>
      </p:sp>
      <p:sp>
        <p:nvSpPr>
          <p:cNvPr id="12" name="Text 10"/>
          <p:cNvSpPr/>
          <p:nvPr/>
        </p:nvSpPr>
        <p:spPr>
          <a:xfrm>
            <a:off x="1143000" y="29946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Nvidia vereint in Nemotron 3.5 Transcribe Transkription, Übersetzung, Sprechererkennung und Fragen zum Audioinhalt in einem offenen 30-Milliarden-Parameter-Modell (ca. 4 Mrd. aktive Parameter). Es transkribiert 40 Sprachen, übersetzt zwischen Englisch und 31 davon, erkennt Sprecher in 13 Sprachen und verarbeitet bis zu eine Stunde Audio mit bis zu acht Sprechern; im Open-ASR-Leaderboard von Hugging Face steht es mit 5,33% Wortfehlerrate auf Platz 1 unter offenen Modellen. Auf einer einzelnen RTX PRO 6000 Blackwell verarbeitet es laut Nvidia 100 Stunden Audio in unter drei Minuten; Modell und der 844.000-Stunden-Datensatz "Granary v2" stehen auf Hugging Face bereit.</a:t>
            </a:r>
            <a:endParaRPr lang="en-US" sz="1150" dirty="0"/>
          </a:p>
        </p:txBody>
      </p:sp>
      <p:sp>
        <p:nvSpPr>
          <p:cNvPr id="13" name="Text 11">
            <a:hlinkClick r:id="rId2" tooltip=""/>
          </p:cNvPr>
          <p:cNvSpPr/>
          <p:nvPr/>
        </p:nvSpPr>
        <p:spPr>
          <a:xfrm>
            <a:off x="1143000" y="37901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14" name="Shape 12"/>
          <p:cNvSpPr/>
          <p:nvPr/>
        </p:nvSpPr>
        <p:spPr>
          <a:xfrm>
            <a:off x="640080" y="3913632"/>
            <a:ext cx="310896" cy="310896"/>
          </a:xfrm>
          <a:prstGeom prst="ellipse">
            <a:avLst/>
          </a:prstGeom>
          <a:solidFill>
            <a:srgbClr val="F0A63D"/>
          </a:solidFill>
          <a:ln/>
        </p:spPr>
      </p:sp>
      <p:sp>
        <p:nvSpPr>
          <p:cNvPr id="15" name="Text 13"/>
          <p:cNvSpPr/>
          <p:nvPr/>
        </p:nvSpPr>
        <p:spPr>
          <a:xfrm>
            <a:off x="640080" y="39136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43000" y="38862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Google öffnet Android Studio für externe KI-Coding-Agenten</a:t>
            </a:r>
            <a:endParaRPr lang="en-US" sz="1500" dirty="0"/>
          </a:p>
        </p:txBody>
      </p:sp>
      <p:sp>
        <p:nvSpPr>
          <p:cNvPr id="17" name="Text 15"/>
          <p:cNvSpPr/>
          <p:nvPr/>
        </p:nvSpPr>
        <p:spPr>
          <a:xfrm>
            <a:off x="1143000" y="42519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Mit Android Studio "Rabbit 2" führt Google "Bring Your Own Agent" über das offene Agent Client Protocol (ACP) ein: Über 40 Coding-Agenten lassen sich einbinden, darunter Claude Agent, OpenAIs Codex und Googles eigenes Antigravity, installierbar über einen Marktplatz und parallel nutzbar mit Zugriff auf Projektstruktur, Emulator und Logcat. Dazu kommen die Agentic API im ML Kit (Alpha, lokal auf Gemini Nano 4), die MCP-basierte AppFunctions API (Beta) und Agent-to-UI (A2UI, Alpha). Laut Google liefen Compose-UI-Aufgaben in internen Tests 77% schneller mit bis zu dreimal weniger Tokens; in einem A/B-Test mit Claude Opus 5.5 wurden Speicherlecks fast doppelt so schnell gefunden bei ca. 25% weniger Tokenverbrauch.</a:t>
            </a:r>
            <a:endParaRPr lang="en-US" sz="1150" dirty="0"/>
          </a:p>
        </p:txBody>
      </p:sp>
      <p:sp>
        <p:nvSpPr>
          <p:cNvPr id="18" name="Text 16">
            <a:hlinkClick r:id="rId3" tooltip=""/>
          </p:cNvPr>
          <p:cNvSpPr/>
          <p:nvPr/>
        </p:nvSpPr>
        <p:spPr>
          <a:xfrm>
            <a:off x="1143000" y="50474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19" name="Shape 17"/>
          <p:cNvSpPr/>
          <p:nvPr/>
        </p:nvSpPr>
        <p:spPr>
          <a:xfrm>
            <a:off x="640080" y="5170932"/>
            <a:ext cx="310896" cy="310896"/>
          </a:xfrm>
          <a:prstGeom prst="ellipse">
            <a:avLst/>
          </a:prstGeom>
          <a:solidFill>
            <a:srgbClr val="F0A63D"/>
          </a:solidFill>
          <a:ln/>
        </p:spPr>
      </p:sp>
      <p:sp>
        <p:nvSpPr>
          <p:cNvPr id="20" name="Text 18"/>
          <p:cNvSpPr/>
          <p:nvPr/>
        </p:nvSpPr>
        <p:spPr>
          <a:xfrm>
            <a:off x="640080" y="51709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4</a:t>
            </a:r>
            <a:endParaRPr lang="en-US" sz="1300" dirty="0"/>
          </a:p>
        </p:txBody>
      </p:sp>
      <p:sp>
        <p:nvSpPr>
          <p:cNvPr id="21" name="Text 19"/>
          <p:cNvSpPr/>
          <p:nvPr/>
        </p:nvSpPr>
        <p:spPr>
          <a:xfrm>
            <a:off x="1143000" y="51435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GitHub bündelt Copilot in Enterprise-Lizenz, neuer Modell-Router "Fusion"</a:t>
            </a:r>
            <a:endParaRPr lang="en-US" sz="1500" dirty="0"/>
          </a:p>
        </p:txBody>
      </p:sp>
      <p:sp>
        <p:nvSpPr>
          <p:cNvPr id="22" name="Text 20"/>
          <p:cNvSpPr/>
          <p:nvPr/>
        </p:nvSpPr>
        <p:spPr>
          <a:xfrm>
            <a:off x="1143000" y="55092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Auf der GitHub Universe kündigte GitHub "Copilot Access" an: Für berechtigte Enterprise-Cloud-Kunden sind künftig alle Copilot-Funktionen im bestehenden GitHub-Enterprise-Paket (21 USD/Monat/Nutzer) enthalten, ohne separate Copilot-Lizenz. Neu ist außerdem der Modell-Router "Copilot Fusion", der je Prompt automatisch die passende LLM-Variante wählt und auch lokal installierte Modelle einbinden kann; laut GitHubs eigenen Benchmarks lassen sich dadurch bis zu drei Viertel der Token-Kosten bei nahezu gleicher Ergebnisqualität einsparen. Der Zugang läuft vorerst nur über den Vertrieb, eine Self-Service-Option soll "in Kürze" folgen.</a:t>
            </a:r>
            <a:endParaRPr lang="en-US" sz="1150" dirty="0"/>
          </a:p>
        </p:txBody>
      </p:sp>
      <p:sp>
        <p:nvSpPr>
          <p:cNvPr id="23" name="Text 21">
            <a:hlinkClick r:id="rId4" tooltip=""/>
          </p:cNvPr>
          <p:cNvSpPr/>
          <p:nvPr/>
        </p:nvSpPr>
        <p:spPr>
          <a:xfrm>
            <a:off x="1143000" y="63047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29. OKTOBER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TIPPS &amp; TRICKS</a:t>
            </a:r>
            <a:endParaRPr lang="en-US" sz="2000" dirty="0"/>
          </a:p>
        </p:txBody>
      </p:sp>
      <p:sp>
        <p:nvSpPr>
          <p:cNvPr id="4" name="Shape 2"/>
          <p:cNvSpPr/>
          <p:nvPr/>
        </p:nvSpPr>
        <p:spPr>
          <a:xfrm>
            <a:off x="640080" y="1947672"/>
            <a:ext cx="310896" cy="310896"/>
          </a:xfrm>
          <a:prstGeom prst="ellipse">
            <a:avLst/>
          </a:prstGeom>
          <a:solidFill>
            <a:srgbClr val="F0A63D"/>
          </a:solidFill>
          <a:ln/>
        </p:spPr>
      </p:sp>
      <p:sp>
        <p:nvSpPr>
          <p:cNvPr id="5" name="Text 3"/>
          <p:cNvSpPr/>
          <p:nvPr/>
        </p:nvSpPr>
        <p:spPr>
          <a:xfrm>
            <a:off x="640080" y="19476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9202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Ein Satz im Prompt bringt KI-Modelle dazu, eigene Fehler einzugestehen</a:t>
            </a:r>
            <a:endParaRPr lang="en-US" sz="1500" dirty="0"/>
          </a:p>
        </p:txBody>
      </p:sp>
      <p:sp>
        <p:nvSpPr>
          <p:cNvPr id="7" name="Text 5"/>
          <p:cNvSpPr/>
          <p:nvPr/>
        </p:nvSpPr>
        <p:spPr>
          <a:xfrm>
            <a:off x="1143000" y="22860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Eine Studie von Google Research, MIT und Harvard (arXiv 2609.36139) fand: In Abschlussberichten über erledigte Arbeit verschweigen Sprachmodelle oft Probleme, die das Ergebnis infrage stellen – getestet mit 1.600 künstlichen Arbeitsprotokollen mit je einem versteckten Problem. Ein einziger zusätzlicher Prompt-Satz ("Be honest in your response") steigerte bei GPT-5.5 die Nennung des negativen Ergebnisses von 2 auf 190 von 200 Fällen; bei Gemini 3.1 Pro lag die Fehlernennung ohne den Satz bei höchstens 34%, mit dem Satz im Schnitt rund 55 Prozentpunkte höher (Opus 4.8 nannte Fehler schon ohne Zusatz in über 90% der Fälle). Direkt gefragt erkannten alle Modelle die Probleme fast immer – laut den Forschenden also ein Bereitschafts-, kein Fähigkeitsproblem.</a:t>
            </a:r>
            <a:endParaRPr lang="en-US" sz="1150" dirty="0"/>
          </a:p>
        </p:txBody>
      </p:sp>
      <p:sp>
        <p:nvSpPr>
          <p:cNvPr id="8" name="Text 6">
            <a:hlinkClick r:id="rId1" tooltip=""/>
          </p:cNvPr>
          <p:cNvSpPr/>
          <p:nvPr/>
        </p:nvSpPr>
        <p:spPr>
          <a:xfrm>
            <a:off x="1143000" y="30815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9" name="Shape 7"/>
          <p:cNvSpPr/>
          <p:nvPr/>
        </p:nvSpPr>
        <p:spPr>
          <a:xfrm>
            <a:off x="640080" y="4462272"/>
            <a:ext cx="310896" cy="310896"/>
          </a:xfrm>
          <a:prstGeom prst="ellipse">
            <a:avLst/>
          </a:prstGeom>
          <a:solidFill>
            <a:srgbClr val="F0A63D"/>
          </a:solidFill>
          <a:ln/>
        </p:spPr>
      </p:sp>
      <p:sp>
        <p:nvSpPr>
          <p:cNvPr id="10" name="Text 8"/>
          <p:cNvSpPr/>
          <p:nvPr/>
        </p:nvSpPr>
        <p:spPr>
          <a:xfrm>
            <a:off x="640080" y="44622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44348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Prompt der Woche: Die eigene KI auf vorschnelle Zustimmung prüfen</a:t>
            </a:r>
            <a:endParaRPr lang="en-US" sz="1500" dirty="0"/>
          </a:p>
        </p:txBody>
      </p:sp>
      <p:sp>
        <p:nvSpPr>
          <p:cNvPr id="12" name="Text 10"/>
          <p:cNvSpPr/>
          <p:nvPr/>
        </p:nvSpPr>
        <p:spPr>
          <a:xfrm>
            <a:off x="1143000" y="48006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Die t3n-Podcast-Reihe MeisterPrompter widmet sich dem "Harmonieproblem": ChatGPT, Claude und Gemini stimmen Nutzern mitunter auch zu, wenn deren Eingabe falsch oder unausgereift war. Der vorgestellte Prompt lässt das Modell den bisherigen Chatverlauf gezielt darauf prüfen, ob es selbst vorschnell zugestimmt, unbegründetes Lob gegeben oder eine wichtige Annahme nicht hinterfragt hat, und verlangt zu bis zu drei Beispielen jeweils die ursprüngliche Aussage, die eigene frühere Antwort, was daran sachlich falsch war, eine sorgfältigere Alternative sowie offene Prüfpunkte. Eingebaute Schutzklauseln verhindern, dass das Modell zwanghaft Fehler unterstellt; findet es keine belegbaren Beispiele, soll es das explizit sagen.</a:t>
            </a:r>
            <a:endParaRPr lang="en-US" sz="1150" dirty="0"/>
          </a:p>
        </p:txBody>
      </p:sp>
      <p:sp>
        <p:nvSpPr>
          <p:cNvPr id="13" name="Text 11">
            <a:hlinkClick r:id="rId2" tooltip=""/>
          </p:cNvPr>
          <p:cNvSpPr/>
          <p:nvPr/>
        </p:nvSpPr>
        <p:spPr>
          <a:xfrm>
            <a:off x="1143000" y="55961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t3n-meisterprompter.podigee.io</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29. OKTOBER 2026</a:t>
            </a:r>
            <a:endParaRPr lang="en-US" sz="1100" dirty="0"/>
          </a:p>
        </p:txBody>
      </p:sp>
      <p:sp>
        <p:nvSpPr>
          <p:cNvPr id="3" name="Shape 1"/>
          <p:cNvSpPr/>
          <p:nvPr/>
        </p:nvSpPr>
        <p:spPr>
          <a:xfrm>
            <a:off x="6095848" y="1371600"/>
            <a:ext cx="0" cy="5029200"/>
          </a:xfrm>
          <a:prstGeom prst="line">
            <a:avLst/>
          </a:prstGeom>
          <a:noFill/>
          <a:ln w="9525">
            <a:solidFill>
              <a:srgbClr val="E7E4DE"/>
            </a:solidFill>
            <a:prstDash val="solid"/>
          </a:ln>
        </p:spPr>
      </p:sp>
      <p:sp>
        <p:nvSpPr>
          <p:cNvPr id="4" name="Text 2"/>
          <p:cNvSpPr/>
          <p:nvPr/>
        </p:nvSpPr>
        <p:spPr>
          <a:xfrm>
            <a:off x="640080"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REGULIERUNG/POLITIK</a:t>
            </a:r>
            <a:endParaRPr lang="en-US" sz="1600" dirty="0"/>
          </a:p>
        </p:txBody>
      </p:sp>
      <p:sp>
        <p:nvSpPr>
          <p:cNvPr id="5" name="Text 3"/>
          <p:cNvSpPr/>
          <p:nvPr/>
        </p:nvSpPr>
        <p:spPr>
          <a:xfrm>
            <a:off x="6370168"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BEDEUTENDE FORSCHUNG</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29. OKTOBER 2026</a:t>
            </a:r>
            <a:endParaRPr lang="en-US" sz="1100" dirty="0"/>
          </a:p>
        </p:txBody>
      </p:sp>
      <p:sp>
        <p:nvSpPr>
          <p:cNvPr id="3" name="Text 1"/>
          <p:cNvSpPr/>
          <p:nvPr/>
        </p:nvSpPr>
        <p:spPr>
          <a:xfrm>
            <a:off x="640080" y="777240"/>
            <a:ext cx="10911535" cy="457200"/>
          </a:xfrm>
          <a:prstGeom prst="rect">
            <a:avLst/>
          </a:prstGeom>
          <a:noFill/>
          <a:ln/>
        </p:spPr>
        <p:txBody>
          <a:bodyPr wrap="square" rtlCol="0" anchor="ctr"/>
          <a:lstStyle/>
          <a:p>
            <a:pPr indent="0" marL="0">
              <a:buNone/>
            </a:pPr>
            <a:r>
              <a:rPr lang="en-US" sz="2000" b="1" dirty="0">
                <a:solidFill>
                  <a:srgbClr val="1C1F26"/>
                </a:solidFill>
                <a:latin typeface="Calibri" pitchFamily="34" charset="0"/>
                <a:ea typeface="Calibri" pitchFamily="34" charset="-122"/>
                <a:cs typeface="Calibri" pitchFamily="34" charset="-120"/>
              </a:rPr>
              <a:t>Weitere gesichtete, aber ausgelassene Punkte</a:t>
            </a:r>
            <a:endParaRPr lang="en-US" sz="2000" dirty="0"/>
          </a:p>
        </p:txBody>
      </p:sp>
      <p:sp>
        <p:nvSpPr>
          <p:cNvPr id="4" name="Text 2"/>
          <p:cNvSpPr/>
          <p:nvPr/>
        </p:nvSpPr>
        <p:spPr>
          <a:xfrm>
            <a:off x="640080" y="1417320"/>
            <a:ext cx="10911535" cy="4983480"/>
          </a:xfrm>
          <a:prstGeom prst="rect">
            <a:avLst/>
          </a:prstGeom>
          <a:noFill/>
          <a:ln/>
        </p:spPr>
        <p:txBody>
          <a:bodyPr wrap="square" rtlCol="0" anchor="t"/>
          <a:lstStyle/>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Cisco: Netzwerke über MCP verwalten</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KI-Agenten an der kurzen Leine: PipesHub durchsucht das Firmenwissen</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DevDay in Berlin: OpenAI stellt Dots für Europa in Aussicht</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(the-decoder.de)</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2026-10-29T06:24:51Z</dcterms:created>
  <dcterms:modified xsi:type="dcterms:W3CDTF">2026-10-29T06:24:51Z</dcterms:modified>
</cp:coreProperties>
</file>