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the-decoder.de/zhipu-ai-veroeffentlicht-glm-5-3-chinas-neues-open-weights-modell-soll-das-staerkste-fuer-code-sein/" TargetMode="External"/><Relationship Id="rId2" Type="http://schemas.openxmlformats.org/officeDocument/2006/relationships/hyperlink" Target="https://www.heise.de/news/Lokale-KI-ausprobiert-Das-leistet-Qwen3-8-27B-11415293.html" TargetMode="External"/><Relationship Id="rId3" Type="http://schemas.openxmlformats.org/officeDocument/2006/relationships/hyperlink" Target="https://www.heise.de/news/ChatGPT-Werbeeinblendungen-kommen-in-weitere-Laender-11415303.html" TargetMode="External"/><Relationship Id="rId4" Type="http://schemas.openxmlformats.org/officeDocument/2006/relationships/hyperlink" Target="https://www.heise.de/news/Eigenes-KI-Modell-fuer-China-von-Apple-mit-Hilfe-von-Alibaba-11414693.html" TargetMode="External"/><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claude.com/blog/maximizing-the-value-of-your-claude-code-sessions" TargetMode="External"/><Relationship Id="rId2" Type="http://schemas.openxmlformats.org/officeDocument/2006/relationships/hyperlink" Target="https://simonwillison.net/2026/Aug/14/dont-classify-hallucinate/" TargetMode="External"/><Relationship Id="rId3" Type="http://schemas.openxmlformats.org/officeDocument/2006/relationships/hyperlink" Target="https://t3n.de/news/ki-routine-produktivitaet-claude-morgengespraech-1744137/" TargetMode="External"/><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the-decoder.de/studie-widerspricht-anthropic-und-openai-autonome-ki-forschung-ist-noch-weit-entfernt/" TargetMode="External"/><Relationship Id="rId2" Type="http://schemas.openxmlformats.org/officeDocument/2006/relationships/hyperlink" Target="https://www.golem.de/news/anthropic-wenn-ki-agenten-sich-in-revierkaempfen-verlieren-2608-211929.html" TargetMode="External"/><Relationship Id="rId3" Type="http://schemas.openxmlformats.org/officeDocument/2006/relationships/hyperlink" Target="https://the-decoder.de/neuer-benchmark-bestaetigt-ki-modelle-sehen-weiterhin-schlecht/" TargetMode="External"/><Relationship Id="rId4" Type="http://schemas.openxmlformats.org/officeDocument/2006/relationships/hyperlink" Target="https://the-decoder.de/world-labs-zeigt-wie-roboter-komplexe-aufgaben-ohne-reale-trainingsdaten-lernen/" TargetMode="External"/><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the-decoder.de/xais-grok-4-6-schliesst-zu-den-besten-ki-modellen-auf-und-unterbietet-sie-deutlich-beim-preis/" TargetMode="External"/><Relationship Id="rId2" Type="http://schemas.openxmlformats.org/officeDocument/2006/relationships/hyperlink" Target="https://www.heise.de/news/KI-Update-kompakt-Hate-Aid-vs-KI-Brillen-Mistral-Prompts-Twitch-11413872.html" TargetMode="External"/><Relationship Id="rId3" Type="http://schemas.openxmlformats.org/officeDocument/2006/relationships/hyperlink" Target="https://www.heise.de/meinung/WTF-Anthropic-sagt-sein-Wasserzeichen-funktioniere-Vielleicht-Manchmal-11415365.html" TargetMode="External"/><Relationship Id="rId4" Type="http://schemas.openxmlformats.org/officeDocument/2006/relationships/hyperlink" Target="https://the-decoder.de/wenn-ki-modelle-nicht-ueber-sich-selbst-nachdenken-duerfen-veraendert-das-ihr-ganzes-weltbild/" TargetMode="External"/><Relationship Id="rId5" Type="http://schemas.openxmlformats.org/officeDocument/2006/relationships/hyperlink" Target="https://the-decoder.de/renommierte-mathematiker-sehen-llms-als-starke-rechenwerkzeuge-aber-nicht-als-kreative-denker/" TargetMode="External"/><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F26"/>
        </a:solidFill>
      </p:bgPr>
    </p:bg>
    <p:spTree>
      <p:nvGrpSpPr>
        <p:cNvPr id="1" name=""/>
        <p:cNvGrpSpPr/>
        <p:nvPr/>
      </p:nvGrpSpPr>
      <p:grpSpPr>
        <a:xfrm>
          <a:off x="0" y="0"/>
          <a:ext cx="0" cy="0"/>
          <a:chOff x="0" y="0"/>
          <a:chExt cx="0" cy="0"/>
        </a:xfrm>
      </p:grpSpPr>
      <p:sp>
        <p:nvSpPr>
          <p:cNvPr id="2" name="Shape 0"/>
          <p:cNvSpPr/>
          <p:nvPr/>
        </p:nvSpPr>
        <p:spPr>
          <a:xfrm>
            <a:off x="9265615" y="-2377440"/>
            <a:ext cx="5852160" cy="5852160"/>
          </a:xfrm>
          <a:prstGeom prst="ellipse">
            <a:avLst/>
          </a:prstGeom>
          <a:solidFill>
            <a:srgbClr val="F0A63D">
              <a:alpha val="12000"/>
            </a:srgbClr>
          </a:solidFill>
          <a:ln/>
        </p:spPr>
      </p:sp>
      <p:sp>
        <p:nvSpPr>
          <p:cNvPr id="3" name="Shape 1"/>
          <p:cNvSpPr/>
          <p:nvPr/>
        </p:nvSpPr>
        <p:spPr>
          <a:xfrm>
            <a:off x="-1463040" y="5029200"/>
            <a:ext cx="3108960" cy="3108960"/>
          </a:xfrm>
          <a:prstGeom prst="ellipse">
            <a:avLst/>
          </a:prstGeom>
          <a:solidFill>
            <a:srgbClr val="F0A63D">
              <a:alpha val="8000"/>
            </a:srgbClr>
          </a:solidFill>
          <a:ln/>
        </p:spPr>
      </p:sp>
      <p:sp>
        <p:nvSpPr>
          <p:cNvPr id="4" name="Text 2"/>
          <p:cNvSpPr/>
          <p:nvPr/>
        </p:nvSpPr>
        <p:spPr>
          <a:xfrm>
            <a:off x="640080" y="822960"/>
            <a:ext cx="7315200" cy="73152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KI-Update</a:t>
            </a:r>
            <a:endParaRPr lang="en-US" sz="4000" dirty="0"/>
          </a:p>
        </p:txBody>
      </p:sp>
      <p:sp>
        <p:nvSpPr>
          <p:cNvPr id="5" name="Text 3"/>
          <p:cNvSpPr/>
          <p:nvPr/>
        </p:nvSpPr>
        <p:spPr>
          <a:xfrm>
            <a:off x="6979615" y="896112"/>
            <a:ext cx="4572000" cy="457200"/>
          </a:xfrm>
          <a:prstGeom prst="rect">
            <a:avLst/>
          </a:prstGeom>
          <a:noFill/>
          <a:ln/>
        </p:spPr>
        <p:txBody>
          <a:bodyPr wrap="square" rtlCol="0" anchor="ctr"/>
          <a:lstStyle/>
          <a:p>
            <a:pPr algn="r" indent="0" marL="0">
              <a:buNone/>
            </a:pPr>
            <a:r>
              <a:rPr lang="en-US" sz="1500" b="1" spc="200" kern="0" dirty="0">
                <a:solidFill>
                  <a:srgbClr val="F0A63D"/>
                </a:solidFill>
                <a:latin typeface="Calibri" pitchFamily="34" charset="0"/>
                <a:ea typeface="Calibri" pitchFamily="34" charset="-122"/>
                <a:cs typeface="Calibri" pitchFamily="34" charset="-120"/>
              </a:rPr>
              <a:t>17. AUGUST 2026</a:t>
            </a:r>
            <a:endParaRPr lang="en-US" sz="1500" dirty="0"/>
          </a:p>
        </p:txBody>
      </p:sp>
      <p:sp>
        <p:nvSpPr>
          <p:cNvPr id="6" name="Text 4"/>
          <p:cNvSpPr/>
          <p:nvPr/>
        </p:nvSpPr>
        <p:spPr>
          <a:xfrm>
            <a:off x="640080" y="1600200"/>
            <a:ext cx="9601200" cy="548640"/>
          </a:xfrm>
          <a:prstGeom prst="rect">
            <a:avLst/>
          </a:prstGeom>
          <a:noFill/>
          <a:ln/>
        </p:spPr>
        <p:txBody>
          <a:bodyPr wrap="square" rtlCol="0" anchor="ctr"/>
          <a:lstStyle/>
          <a:p>
            <a:pPr indent="0" marL="0">
              <a:buNone/>
            </a:pPr>
            <a:r>
              <a:rPr lang="en-US" sz="1600" dirty="0">
                <a:solidFill>
                  <a:srgbClr val="9BA3B0"/>
                </a:solidFill>
                <a:latin typeface="Calibri" pitchFamily="34" charset="0"/>
                <a:ea typeface="Calibri" pitchFamily="34" charset="-122"/>
                <a:cs typeface="Calibri" pitchFamily="34" charset="-120"/>
              </a:rPr>
              <a:t>Der werktägliche KI-Digest — Praxis-News, Tipps &amp; Tricks, Regulierung und Forschung im Überblick</a:t>
            </a:r>
            <a:endParaRPr lang="en-US" sz="1600" dirty="0"/>
          </a:p>
        </p:txBody>
      </p:sp>
      <p:sp>
        <p:nvSpPr>
          <p:cNvPr id="7" name="Text 5"/>
          <p:cNvSpPr/>
          <p:nvPr/>
        </p:nvSpPr>
        <p:spPr>
          <a:xfrm>
            <a:off x="640080"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4</a:t>
            </a:r>
            <a:endParaRPr lang="en-US" sz="4400" dirty="0"/>
          </a:p>
        </p:txBody>
      </p:sp>
      <p:sp>
        <p:nvSpPr>
          <p:cNvPr id="8" name="Text 6"/>
          <p:cNvSpPr/>
          <p:nvPr/>
        </p:nvSpPr>
        <p:spPr>
          <a:xfrm>
            <a:off x="640080"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PRAXIS-NEWS</a:t>
            </a:r>
            <a:endParaRPr lang="en-US" sz="1100" dirty="0"/>
          </a:p>
        </p:txBody>
      </p:sp>
      <p:sp>
        <p:nvSpPr>
          <p:cNvPr id="9" name="Text 7"/>
          <p:cNvSpPr/>
          <p:nvPr/>
        </p:nvSpPr>
        <p:spPr>
          <a:xfrm>
            <a:off x="3367964"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3</a:t>
            </a:r>
            <a:endParaRPr lang="en-US" sz="4400" dirty="0"/>
          </a:p>
        </p:txBody>
      </p:sp>
      <p:sp>
        <p:nvSpPr>
          <p:cNvPr id="10" name="Text 8"/>
          <p:cNvSpPr/>
          <p:nvPr/>
        </p:nvSpPr>
        <p:spPr>
          <a:xfrm>
            <a:off x="3367964"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TIPPS &amp; TRICKS</a:t>
            </a:r>
            <a:endParaRPr lang="en-US" sz="1100" dirty="0"/>
          </a:p>
        </p:txBody>
      </p:sp>
      <p:sp>
        <p:nvSpPr>
          <p:cNvPr id="11" name="Text 9"/>
          <p:cNvSpPr/>
          <p:nvPr/>
        </p:nvSpPr>
        <p:spPr>
          <a:xfrm>
            <a:off x="6095848" y="4572000"/>
            <a:ext cx="2453564" cy="685800"/>
          </a:xfrm>
          <a:prstGeom prst="rect">
            <a:avLst/>
          </a:prstGeom>
          <a:noFill/>
          <a:ln/>
        </p:spPr>
        <p:txBody>
          <a:bodyPr wrap="square" rtlCol="0" anchor="ctr"/>
          <a:lstStyle/>
          <a:p>
            <a:pPr indent="0" marL="0">
              <a:buNone/>
            </a:pPr>
            <a:r>
              <a:rPr lang="en-US" sz="4400" b="1" dirty="0">
                <a:solidFill>
                  <a:srgbClr val="565C68"/>
                </a:solidFill>
                <a:latin typeface="Calibri" pitchFamily="34" charset="0"/>
                <a:ea typeface="Calibri" pitchFamily="34" charset="-122"/>
                <a:cs typeface="Calibri" pitchFamily="34" charset="-120"/>
              </a:rPr>
              <a:t>—</a:t>
            </a:r>
            <a:endParaRPr lang="en-US" sz="4400" dirty="0"/>
          </a:p>
        </p:txBody>
      </p:sp>
      <p:sp>
        <p:nvSpPr>
          <p:cNvPr id="12" name="Text 10"/>
          <p:cNvSpPr/>
          <p:nvPr/>
        </p:nvSpPr>
        <p:spPr>
          <a:xfrm>
            <a:off x="6095848"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REGULIERUNG/POLITIK</a:t>
            </a:r>
            <a:endParaRPr lang="en-US" sz="1100" dirty="0"/>
          </a:p>
        </p:txBody>
      </p:sp>
      <p:sp>
        <p:nvSpPr>
          <p:cNvPr id="13" name="Text 11"/>
          <p:cNvSpPr/>
          <p:nvPr/>
        </p:nvSpPr>
        <p:spPr>
          <a:xfrm>
            <a:off x="8823731"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4</a:t>
            </a:r>
            <a:endParaRPr lang="en-US" sz="4400" dirty="0"/>
          </a:p>
        </p:txBody>
      </p:sp>
      <p:sp>
        <p:nvSpPr>
          <p:cNvPr id="14" name="Text 12"/>
          <p:cNvSpPr/>
          <p:nvPr/>
        </p:nvSpPr>
        <p:spPr>
          <a:xfrm>
            <a:off x="8823731"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BEDEUTENDE FORSCHUNG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17. AUGUST 2026</a:t>
            </a:r>
            <a:endParaRPr lang="en-US" sz="1100" dirty="0"/>
          </a:p>
        </p:txBody>
      </p:sp>
      <p:sp>
        <p:nvSpPr>
          <p:cNvPr id="3" name="Shape 1"/>
          <p:cNvSpPr/>
          <p:nvPr/>
        </p:nvSpPr>
        <p:spPr>
          <a:xfrm>
            <a:off x="640080" y="822960"/>
            <a:ext cx="10911535" cy="5486400"/>
          </a:xfrm>
          <a:prstGeom prst="roundRect">
            <a:avLst>
              <a:gd name="adj" fmla="val 1333"/>
            </a:avLst>
          </a:prstGeom>
          <a:solidFill>
            <a:srgbClr val="FFF6E8"/>
          </a:solidFill>
          <a:ln/>
        </p:spPr>
      </p:sp>
      <p:sp>
        <p:nvSpPr>
          <p:cNvPr id="4" name="Text 2"/>
          <p:cNvSpPr/>
          <p:nvPr/>
        </p:nvSpPr>
        <p:spPr>
          <a:xfrm>
            <a:off x="1005840" y="1143000"/>
            <a:ext cx="10180015" cy="274320"/>
          </a:xfrm>
          <a:prstGeom prst="rect">
            <a:avLst/>
          </a:prstGeom>
          <a:noFill/>
          <a:ln/>
        </p:spPr>
        <p:txBody>
          <a:bodyPr wrap="square" rtlCol="0" anchor="ctr"/>
          <a:lstStyle/>
          <a:p>
            <a:pPr indent="0" marL="0">
              <a:buNone/>
            </a:pPr>
            <a:r>
              <a:rPr lang="en-US" sz="1200" b="1" spc="100" kern="0" dirty="0">
                <a:solidFill>
                  <a:srgbClr val="B8690A"/>
                </a:solidFill>
                <a:latin typeface="Calibri" pitchFamily="34" charset="0"/>
                <a:ea typeface="Calibri" pitchFamily="34" charset="-122"/>
                <a:cs typeface="Calibri" pitchFamily="34" charset="-120"/>
              </a:rPr>
              <a:t>QUELLENCHECK</a:t>
            </a:r>
            <a:endParaRPr lang="en-US" sz="1200" dirty="0"/>
          </a:p>
        </p:txBody>
      </p:sp>
      <p:sp>
        <p:nvSpPr>
          <p:cNvPr id="5" name="Text 3"/>
          <p:cNvSpPr/>
          <p:nvPr/>
        </p:nvSpPr>
        <p:spPr>
          <a:xfrm>
            <a:off x="1005840" y="1435608"/>
            <a:ext cx="10180015" cy="2103120"/>
          </a:xfrm>
          <a:prstGeom prst="rect">
            <a:avLst/>
          </a:prstGeom>
          <a:noFill/>
          <a:ln/>
        </p:spPr>
        <p:txBody>
          <a:bodyPr wrap="square" rtlCol="0" anchor="ctr"/>
          <a:lstStyle/>
          <a:p>
            <a:pPr indent="0" marL="0">
              <a:lnSpc>
                <a:spcPct val="130000"/>
              </a:lnSpc>
              <a:buNone/>
            </a:pPr>
            <a:r>
              <a:rPr lang="en-US" sz="1300" dirty="0">
                <a:solidFill>
                  <a:srgbClr val="4A4030"/>
                </a:solidFill>
                <a:latin typeface="Calibri" pitchFamily="34" charset="0"/>
                <a:ea typeface="Calibri" pitchFamily="34" charset="-122"/>
                <a:cs typeface="Calibri" pitchFamily="34" charset="-120"/>
              </a:rPr>
              <a:t>the-decoder.de und heise.de bleiben mit Abstand die ergiebigsten Quellen der letzten drei Wochen, gefolgt von t3n und simonwillison.net als verlässliche Ergänzung. Tagesschau, Zeit Online, Süddeutsche Zeitung und Table.Briefings lieferten in diesem Zeitraum keine eigenständigen Treffer, bleiben aber zur Breitenabsicherung in der Liste — keine Quelle wirkt inaktiv oder redundant. sources.md bleibt unverändert, keine neue Quelle diese Woche identifiziert.</a:t>
            </a:r>
            <a:endParaRPr lang="en-US" sz="1300" dirty="0"/>
          </a:p>
        </p:txBody>
      </p:sp>
      <p:sp>
        <p:nvSpPr>
          <p:cNvPr id="6" name="Text 4"/>
          <p:cNvSpPr/>
          <p:nvPr/>
        </p:nvSpPr>
        <p:spPr>
          <a:xfrm>
            <a:off x="1005840" y="3611880"/>
            <a:ext cx="10180015" cy="274320"/>
          </a:xfrm>
          <a:prstGeom prst="rect">
            <a:avLst/>
          </a:prstGeom>
          <a:noFill/>
          <a:ln/>
        </p:spPr>
        <p:txBody>
          <a:bodyPr wrap="square" rtlCol="0" anchor="ctr"/>
          <a:lstStyle/>
          <a:p>
            <a:pPr indent="0" marL="0">
              <a:buNone/>
            </a:pPr>
            <a:r>
              <a:rPr lang="en-US" sz="1200" b="1" spc="100" kern="0" dirty="0">
                <a:solidFill>
                  <a:srgbClr val="B8690A"/>
                </a:solidFill>
                <a:latin typeface="Calibri" pitchFamily="34" charset="0"/>
                <a:ea typeface="Calibri" pitchFamily="34" charset="-122"/>
                <a:cs typeface="Calibri" pitchFamily="34" charset="-120"/>
              </a:rPr>
              <a:t>WOCHE IM RÜCKBLICK (FR 14.08. – MO 17.08.)</a:t>
            </a:r>
            <a:endParaRPr lang="en-US" sz="1200" dirty="0"/>
          </a:p>
        </p:txBody>
      </p:sp>
      <p:sp>
        <p:nvSpPr>
          <p:cNvPr id="7" name="Text 5"/>
          <p:cNvSpPr/>
          <p:nvPr/>
        </p:nvSpPr>
        <p:spPr>
          <a:xfrm>
            <a:off x="1005840" y="3904488"/>
            <a:ext cx="10180015" cy="2103120"/>
          </a:xfrm>
          <a:prstGeom prst="rect">
            <a:avLst/>
          </a:prstGeom>
          <a:noFill/>
          <a:ln/>
        </p:spPr>
        <p:txBody>
          <a:bodyPr wrap="square" rtlCol="0" anchor="ctr"/>
          <a:lstStyle/>
          <a:p>
            <a:pPr indent="0" marL="0">
              <a:lnSpc>
                <a:spcPct val="130000"/>
              </a:lnSpc>
              <a:buNone/>
            </a:pPr>
            <a:r>
              <a:rPr lang="en-US" sz="1300" dirty="0">
                <a:solidFill>
                  <a:srgbClr val="4A4030"/>
                </a:solidFill>
                <a:latin typeface="Calibri" pitchFamily="34" charset="0"/>
                <a:ea typeface="Calibri" pitchFamily="34" charset="-122"/>
                <a:cs typeface="Calibri" pitchFamily="34" charset="-120"/>
              </a:rPr>
              <a:t>Praxis-News: Anthropic machte den risikoärmeren „Auto Mode" zum Standard-Berechtigungsmodus in Claude Code (Montag) und brachte später Claude Cowork als Chrome-Seitenpanel sowie ein unsichtbares Wasserzeichen für Claude-Texte (Freitag bzw. Mittwoch). OpenAI stufte sein unveröffentlichtes Modell „Astra" erstmals als potenziell kritisch bei Cyber-Fähigkeiten ein, stellte den Atlas-Browser plangemäß ein (beides Montag) und veröffentlichte einen ChatGPT-Linux-Desktop-Preview (Mittwoch). Bei offenen Modellen legten gleich mehrere Anbieter nach — Meta, Nvidia, Google, DeepSeek und Ant Group, dazu Mistral und Microsoft (Details in den jeweiligen Tagesmails). Ein KI-Agent verschaffte sich zudem versehentlich Zugriff auf ein Fitnessstudio-Buchungssystem (Dienstag). Tipps &amp; Tricks: den expliziten Anspruch „nicht nach niedrig hängenden Früchten suchen" im Rechercheprompt (Montag), wiederverwendbare Prompt-Vorlagen, Wartungsroutinen als Cron-Prompt und zeitkritische Fakten im System-Prompt (Mittwoch), sowie den „Clone-Prompt"-Ansatz (Freitag). Regulierung/Politik: keine neuen, hinreichend belegten Entwicklungen diese Woche. Bedeutende Forschung: Umfrage zu KI-Tools bei Brustkrebserkennung (Donnerstag), „Aber Marinade" zu versteckten Denkprozessen (Mittwoch), erste Etappenziele auf dem Weg zur autonomen Selbstverbesserung (Freitag).</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17. AUGUST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PRAXIS-NEWS</a:t>
            </a:r>
            <a:endParaRPr lang="en-US" sz="2000" dirty="0"/>
          </a:p>
        </p:txBody>
      </p:sp>
      <p:sp>
        <p:nvSpPr>
          <p:cNvPr id="4" name="Shape 2"/>
          <p:cNvSpPr/>
          <p:nvPr/>
        </p:nvSpPr>
        <p:spPr>
          <a:xfrm>
            <a:off x="640080" y="1399032"/>
            <a:ext cx="310896" cy="310896"/>
          </a:xfrm>
          <a:prstGeom prst="ellipse">
            <a:avLst/>
          </a:prstGeom>
          <a:solidFill>
            <a:srgbClr val="F0A63D"/>
          </a:solidFill>
          <a:ln/>
        </p:spPr>
      </p:sp>
      <p:sp>
        <p:nvSpPr>
          <p:cNvPr id="5" name="Text 3"/>
          <p:cNvSpPr/>
          <p:nvPr/>
        </p:nvSpPr>
        <p:spPr>
          <a:xfrm>
            <a:off x="640080" y="13990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13716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Zhipu AI veröffentlicht GLM-5.3: offenes Coding-Modell mit Sicherheits-Fähigkeiten</a:t>
            </a:r>
            <a:endParaRPr lang="en-US" sz="1500" dirty="0"/>
          </a:p>
        </p:txBody>
      </p:sp>
      <p:sp>
        <p:nvSpPr>
          <p:cNvPr id="7" name="Text 5"/>
          <p:cNvSpPr/>
          <p:nvPr/>
        </p:nvSpPr>
        <p:spPr>
          <a:xfrm>
            <a:off x="1143000" y="17373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Laut Hersteller das leistungsfähigste Open-Weights-Modell für Programmierung, mit Stärken im agentischen Coding. In Zusammenarbeit mit chinesischen Sicherheitsteams wurden damit 2436 Sicherheitslücken in 269 Projekten gefunden. Verfügbar sofort über den GLM Coding Plan; die Modellgewichte sollen laut Zhipu erst in rund zwei Wochen als Open Source folgen.</a:t>
            </a:r>
            <a:endParaRPr lang="en-US" sz="1150" dirty="0"/>
          </a:p>
        </p:txBody>
      </p:sp>
      <p:sp>
        <p:nvSpPr>
          <p:cNvPr id="8" name="Text 6">
            <a:hlinkClick r:id="rId1" tooltip=""/>
          </p:cNvPr>
          <p:cNvSpPr/>
          <p:nvPr/>
        </p:nvSpPr>
        <p:spPr>
          <a:xfrm>
            <a:off x="1143000" y="25328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9" name="Shape 7"/>
          <p:cNvSpPr/>
          <p:nvPr/>
        </p:nvSpPr>
        <p:spPr>
          <a:xfrm>
            <a:off x="640080" y="2656332"/>
            <a:ext cx="310896" cy="310896"/>
          </a:xfrm>
          <a:prstGeom prst="ellipse">
            <a:avLst/>
          </a:prstGeom>
          <a:solidFill>
            <a:srgbClr val="F0A63D"/>
          </a:solidFill>
          <a:ln/>
        </p:spPr>
      </p:sp>
      <p:sp>
        <p:nvSpPr>
          <p:cNvPr id="10" name="Text 8"/>
          <p:cNvSpPr/>
          <p:nvPr/>
        </p:nvSpPr>
        <p:spPr>
          <a:xfrm>
            <a:off x="640080" y="26563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43000" y="26289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Heise-Praxistest: Alibabas offenes Qwen3.8-27B läuft auf Consumer-Hardware</a:t>
            </a:r>
            <a:endParaRPr lang="en-US" sz="1500" dirty="0"/>
          </a:p>
        </p:txBody>
      </p:sp>
      <p:sp>
        <p:nvSpPr>
          <p:cNvPr id="12" name="Text 10"/>
          <p:cNvSpPr/>
          <p:nvPr/>
        </p:nvSpPr>
        <p:spPr>
          <a:xfrm>
            <a:off x="1143000" y="29946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27-Milliarden-Parameter-Modell: 120 GB VRAM in FP32, 64 GB in FP16, 22 GB in Q5_K_M, nur 16 GB in NVFP4. Im Praxistest lieferte es laut heise auf Anhieb funktionierenden Code, laut Alibaba-Benchmarks auf Augenhöhe mit Anthropics Opus 4.6.</a:t>
            </a:r>
            <a:endParaRPr lang="en-US" sz="1150" dirty="0"/>
          </a:p>
        </p:txBody>
      </p:sp>
      <p:sp>
        <p:nvSpPr>
          <p:cNvPr id="13" name="Text 11">
            <a:hlinkClick r:id="rId2" tooltip=""/>
          </p:cNvPr>
          <p:cNvSpPr/>
          <p:nvPr/>
        </p:nvSpPr>
        <p:spPr>
          <a:xfrm>
            <a:off x="1143000" y="37901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14" name="Shape 12"/>
          <p:cNvSpPr/>
          <p:nvPr/>
        </p:nvSpPr>
        <p:spPr>
          <a:xfrm>
            <a:off x="640080" y="3913632"/>
            <a:ext cx="310896" cy="310896"/>
          </a:xfrm>
          <a:prstGeom prst="ellipse">
            <a:avLst/>
          </a:prstGeom>
          <a:solidFill>
            <a:srgbClr val="F0A63D"/>
          </a:solidFill>
          <a:ln/>
        </p:spPr>
      </p:sp>
      <p:sp>
        <p:nvSpPr>
          <p:cNvPr id="15" name="Text 13"/>
          <p:cNvSpPr/>
          <p:nvPr/>
        </p:nvSpPr>
        <p:spPr>
          <a:xfrm>
            <a:off x="640080" y="39136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43000" y="38862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OpenAI weitet ChatGPT-Werbeeinblendungen auf fünf weitere Länder aus</a:t>
            </a:r>
            <a:endParaRPr lang="en-US" sz="1500" dirty="0"/>
          </a:p>
        </p:txBody>
      </p:sp>
      <p:sp>
        <p:nvSpPr>
          <p:cNvPr id="17" name="Text 15"/>
          <p:cNvSpPr/>
          <p:nvPr/>
        </p:nvSpPr>
        <p:spPr>
          <a:xfrm>
            <a:off x="1143000" y="42519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Werbetest jetzt auch in Großbritannien, Mexiko, Brasilien, Japan und Südkorea für Free- und ChatGPT-Go-Nutzer, Minderjährige ausgenommen. Anzeigen werden mit Gesprächsthema und früheren Chats abgeglichen, lassen sich deaktivieren.</a:t>
            </a:r>
            <a:endParaRPr lang="en-US" sz="1150" dirty="0"/>
          </a:p>
        </p:txBody>
      </p:sp>
      <p:sp>
        <p:nvSpPr>
          <p:cNvPr id="18" name="Text 16">
            <a:hlinkClick r:id="rId3" tooltip=""/>
          </p:cNvPr>
          <p:cNvSpPr/>
          <p:nvPr/>
        </p:nvSpPr>
        <p:spPr>
          <a:xfrm>
            <a:off x="1143000" y="50474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19" name="Shape 17"/>
          <p:cNvSpPr/>
          <p:nvPr/>
        </p:nvSpPr>
        <p:spPr>
          <a:xfrm>
            <a:off x="640080" y="5170932"/>
            <a:ext cx="310896" cy="310896"/>
          </a:xfrm>
          <a:prstGeom prst="ellipse">
            <a:avLst/>
          </a:prstGeom>
          <a:solidFill>
            <a:srgbClr val="F0A63D"/>
          </a:solidFill>
          <a:ln/>
        </p:spPr>
      </p:sp>
      <p:sp>
        <p:nvSpPr>
          <p:cNvPr id="20" name="Text 18"/>
          <p:cNvSpPr/>
          <p:nvPr/>
        </p:nvSpPr>
        <p:spPr>
          <a:xfrm>
            <a:off x="640080" y="51709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4</a:t>
            </a:r>
            <a:endParaRPr lang="en-US" sz="1300" dirty="0"/>
          </a:p>
        </p:txBody>
      </p:sp>
      <p:sp>
        <p:nvSpPr>
          <p:cNvPr id="21" name="Text 19"/>
          <p:cNvSpPr/>
          <p:nvPr/>
        </p:nvSpPr>
        <p:spPr>
          <a:xfrm>
            <a:off x="1143000" y="51435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Apple trainiert eigenes KI-Modell für China, nutzt zusätzlich Alibabas Qwen</a:t>
            </a:r>
            <a:endParaRPr lang="en-US" sz="1500" dirty="0"/>
          </a:p>
        </p:txBody>
      </p:sp>
      <p:sp>
        <p:nvSpPr>
          <p:cNvPr id="22" name="Text 20"/>
          <p:cNvSpPr/>
          <p:nvPr/>
        </p:nvSpPr>
        <p:spPr>
          <a:xfrm>
            <a:off x="1143000" y="55092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Laut Reuters-Bericht eigenes LLM für den chinesischen Markt mit Alibaba-Verfahren trainiert, zusätzlich Qwen für einzelne Funktionen wie Siri-Antworten. Behördliche Freigabe laut Artikel bereits am 15. Juli 2026 erteilt.</a:t>
            </a:r>
            <a:endParaRPr lang="en-US" sz="1150" dirty="0"/>
          </a:p>
        </p:txBody>
      </p:sp>
      <p:sp>
        <p:nvSpPr>
          <p:cNvPr id="23" name="Text 21">
            <a:hlinkClick r:id="rId4" tooltip=""/>
          </p:cNvPr>
          <p:cNvSpPr/>
          <p:nvPr/>
        </p:nvSpPr>
        <p:spPr>
          <a:xfrm>
            <a:off x="1143000" y="63047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17. AUGUST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TIPPS &amp; TRICKS</a:t>
            </a:r>
            <a:endParaRPr lang="en-US" sz="2000" dirty="0"/>
          </a:p>
        </p:txBody>
      </p:sp>
      <p:sp>
        <p:nvSpPr>
          <p:cNvPr id="4" name="Shape 2"/>
          <p:cNvSpPr/>
          <p:nvPr/>
        </p:nvSpPr>
        <p:spPr>
          <a:xfrm>
            <a:off x="640080" y="1661160"/>
            <a:ext cx="310896" cy="310896"/>
          </a:xfrm>
          <a:prstGeom prst="ellipse">
            <a:avLst/>
          </a:prstGeom>
          <a:solidFill>
            <a:srgbClr val="F0A63D"/>
          </a:solidFill>
          <a:ln/>
        </p:spPr>
      </p:sp>
      <p:sp>
        <p:nvSpPr>
          <p:cNvPr id="5" name="Text 3"/>
          <p:cNvSpPr/>
          <p:nvPr/>
        </p:nvSpPr>
        <p:spPr>
          <a:xfrm>
            <a:off x="640080" y="1661160"/>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1633728"/>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Claude-Code-Sessions gezielt token-effizient führen</a:t>
            </a:r>
            <a:endParaRPr lang="en-US" sz="1500" dirty="0"/>
          </a:p>
        </p:txBody>
      </p:sp>
      <p:sp>
        <p:nvSpPr>
          <p:cNvPr id="7" name="Text 5"/>
          <p:cNvSpPr/>
          <p:nvPr/>
        </p:nvSpPr>
        <p:spPr>
          <a:xfrm>
            <a:off x="1143000" y="1999488"/>
            <a:ext cx="10408615" cy="530352"/>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Fünf Praxistipps: /clear zwischen Aufgaben, Modell/Effort vor Sitzungsbeginn festlegen, Dateien per @-Erwähnung einbinden, verrauschte Kommandos in Subagenten auslagern, /context zur Kontextprüfung nutzen.</a:t>
            </a:r>
            <a:endParaRPr lang="en-US" sz="1150" dirty="0"/>
          </a:p>
        </p:txBody>
      </p:sp>
      <p:sp>
        <p:nvSpPr>
          <p:cNvPr id="8" name="Text 6">
            <a:hlinkClick r:id="rId1" tooltip=""/>
          </p:cNvPr>
          <p:cNvSpPr/>
          <p:nvPr/>
        </p:nvSpPr>
        <p:spPr>
          <a:xfrm>
            <a:off x="1143000" y="2529840"/>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claude.com/blog</a:t>
            </a:r>
            <a:endParaRPr lang="en-US" sz="1050" dirty="0"/>
          </a:p>
        </p:txBody>
      </p:sp>
      <p:sp>
        <p:nvSpPr>
          <p:cNvPr id="9" name="Shape 7"/>
          <p:cNvSpPr/>
          <p:nvPr/>
        </p:nvSpPr>
        <p:spPr>
          <a:xfrm>
            <a:off x="640080" y="3337560"/>
            <a:ext cx="310896" cy="310896"/>
          </a:xfrm>
          <a:prstGeom prst="ellipse">
            <a:avLst/>
          </a:prstGeom>
          <a:solidFill>
            <a:srgbClr val="F0A63D"/>
          </a:solidFill>
          <a:ln/>
        </p:spPr>
      </p:sp>
      <p:sp>
        <p:nvSpPr>
          <p:cNvPr id="10" name="Text 8"/>
          <p:cNvSpPr/>
          <p:nvPr/>
        </p:nvSpPr>
        <p:spPr>
          <a:xfrm>
            <a:off x="640080" y="3337560"/>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43000" y="3310128"/>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„Don't classify, hallucinate": Klassifizierung per erfundenen Tags</a:t>
            </a:r>
            <a:endParaRPr lang="en-US" sz="1500" dirty="0"/>
          </a:p>
        </p:txBody>
      </p:sp>
      <p:sp>
        <p:nvSpPr>
          <p:cNvPr id="12" name="Text 10"/>
          <p:cNvSpPr/>
          <p:nvPr/>
        </p:nvSpPr>
        <p:spPr>
          <a:xfrm>
            <a:off x="1143000" y="3675888"/>
            <a:ext cx="10408615" cy="530352"/>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LLM erfindet plausible Kategoriepfade frei, die erst danach per Embeddings gegen die echte Tag-Liste gematcht werden, statt gegen eine riesige Vokabularliste zu klassifizieren.</a:t>
            </a:r>
            <a:endParaRPr lang="en-US" sz="1150" dirty="0"/>
          </a:p>
        </p:txBody>
      </p:sp>
      <p:sp>
        <p:nvSpPr>
          <p:cNvPr id="13" name="Text 11">
            <a:hlinkClick r:id="rId2" tooltip=""/>
          </p:cNvPr>
          <p:cNvSpPr/>
          <p:nvPr/>
        </p:nvSpPr>
        <p:spPr>
          <a:xfrm>
            <a:off x="1143000" y="4206240"/>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simonwillison.net</a:t>
            </a:r>
            <a:endParaRPr lang="en-US" sz="1050" dirty="0"/>
          </a:p>
        </p:txBody>
      </p:sp>
      <p:sp>
        <p:nvSpPr>
          <p:cNvPr id="14" name="Shape 12"/>
          <p:cNvSpPr/>
          <p:nvPr/>
        </p:nvSpPr>
        <p:spPr>
          <a:xfrm>
            <a:off x="640080" y="5013960"/>
            <a:ext cx="310896" cy="310896"/>
          </a:xfrm>
          <a:prstGeom prst="ellipse">
            <a:avLst/>
          </a:prstGeom>
          <a:solidFill>
            <a:srgbClr val="F0A63D"/>
          </a:solidFill>
          <a:ln/>
        </p:spPr>
      </p:sp>
      <p:sp>
        <p:nvSpPr>
          <p:cNvPr id="15" name="Text 13"/>
          <p:cNvSpPr/>
          <p:nvPr/>
        </p:nvSpPr>
        <p:spPr>
          <a:xfrm>
            <a:off x="640080" y="5013960"/>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43000" y="4986528"/>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Morgengespräch mit Claude statt E-Mail-Check als Tagesroutine</a:t>
            </a:r>
            <a:endParaRPr lang="en-US" sz="1500" dirty="0"/>
          </a:p>
        </p:txBody>
      </p:sp>
      <p:sp>
        <p:nvSpPr>
          <p:cNvPr id="17" name="Text 15"/>
          <p:cNvSpPr/>
          <p:nvPr/>
        </p:nvSpPr>
        <p:spPr>
          <a:xfrm>
            <a:off x="1143000" y="5352288"/>
            <a:ext cx="10408615" cy="530352"/>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t3n-Kolumnist berichtet von zehnminütigem täglichem Gespräch mit Claude vor dem E-Mail-Check, angeregt durch Economist-Journalist Andrew Palmer.</a:t>
            </a:r>
            <a:endParaRPr lang="en-US" sz="1150" dirty="0"/>
          </a:p>
        </p:txBody>
      </p:sp>
      <p:sp>
        <p:nvSpPr>
          <p:cNvPr id="18" name="Text 16">
            <a:hlinkClick r:id="rId3" tooltip=""/>
          </p:cNvPr>
          <p:cNvSpPr/>
          <p:nvPr/>
        </p:nvSpPr>
        <p:spPr>
          <a:xfrm>
            <a:off x="1143000" y="5882640"/>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t3n.de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17. AUGUST 2026</a:t>
            </a:r>
            <a:endParaRPr lang="en-US" sz="1100" dirty="0"/>
          </a:p>
        </p:txBody>
      </p:sp>
      <p:sp>
        <p:nvSpPr>
          <p:cNvPr id="3" name="Shape 1"/>
          <p:cNvSpPr/>
          <p:nvPr/>
        </p:nvSpPr>
        <p:spPr>
          <a:xfrm>
            <a:off x="6095848" y="1371600"/>
            <a:ext cx="0" cy="5029200"/>
          </a:xfrm>
          <a:prstGeom prst="line">
            <a:avLst/>
          </a:prstGeom>
          <a:noFill/>
          <a:ln w="9525">
            <a:solidFill>
              <a:srgbClr val="E7E4DE"/>
            </a:solidFill>
            <a:prstDash val="solid"/>
          </a:ln>
        </p:spPr>
      </p:sp>
      <p:sp>
        <p:nvSpPr>
          <p:cNvPr id="4" name="Text 2"/>
          <p:cNvSpPr/>
          <p:nvPr/>
        </p:nvSpPr>
        <p:spPr>
          <a:xfrm>
            <a:off x="640080"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REGULIERUNG/POLITIK</a:t>
            </a:r>
            <a:endParaRPr lang="en-US" sz="1600" dirty="0"/>
          </a:p>
        </p:txBody>
      </p:sp>
      <p:sp>
        <p:nvSpPr>
          <p:cNvPr id="5" name="Text 3"/>
          <p:cNvSpPr/>
          <p:nvPr/>
        </p:nvSpPr>
        <p:spPr>
          <a:xfrm>
            <a:off x="6370168"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BEDEUTENDE FORSCHUNG</a:t>
            </a:r>
            <a:endParaRPr lang="en-US" sz="1600" dirty="0"/>
          </a:p>
        </p:txBody>
      </p:sp>
      <p:sp>
        <p:nvSpPr>
          <p:cNvPr id="6" name="Text 4"/>
          <p:cNvSpPr/>
          <p:nvPr/>
        </p:nvSpPr>
        <p:spPr>
          <a:xfrm>
            <a:off x="6370168" y="1371600"/>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Studie: Autonome KI-Forschung noch weit entfernt („Shadow Evaluation")</a:t>
            </a:r>
            <a:endParaRPr lang="en-US" sz="1500" dirty="0"/>
          </a:p>
        </p:txBody>
      </p:sp>
      <p:sp>
        <p:nvSpPr>
          <p:cNvPr id="7" name="Text 5"/>
          <p:cNvSpPr/>
          <p:nvPr/>
        </p:nvSpPr>
        <p:spPr>
          <a:xfrm>
            <a:off x="6370168" y="1938528"/>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Princeton/UK AI Security Institute ließen Claude Opus 4.8 sechs Tage an zwei unveröffentlichten NeurIPS-Einreichungen arbeiten; beide Papers von den Original-Autoren abgelehnt, fünf systematische Fehlermodi identifiziert.</a:t>
            </a:r>
            <a:endParaRPr lang="en-US" sz="1200" dirty="0"/>
          </a:p>
        </p:txBody>
      </p:sp>
      <p:sp>
        <p:nvSpPr>
          <p:cNvPr id="8" name="Text 6">
            <a:hlinkClick r:id="rId1" tooltip=""/>
          </p:cNvPr>
          <p:cNvSpPr/>
          <p:nvPr/>
        </p:nvSpPr>
        <p:spPr>
          <a:xfrm>
            <a:off x="6370168" y="4133088"/>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9" name="Text 7"/>
          <p:cNvSpPr/>
          <p:nvPr/>
        </p:nvSpPr>
        <p:spPr>
          <a:xfrm>
            <a:off x="6370168" y="4133088"/>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Anthropic Frontier Red Team: KI-Agenten geraten in „Revierkämpfe"</a:t>
            </a:r>
            <a:endParaRPr lang="en-US" sz="1500" dirty="0"/>
          </a:p>
        </p:txBody>
      </p:sp>
      <p:sp>
        <p:nvSpPr>
          <p:cNvPr id="10" name="Text 8"/>
          <p:cNvSpPr/>
          <p:nvPr/>
        </p:nvSpPr>
        <p:spPr>
          <a:xfrm>
            <a:off x="6370168" y="4700016"/>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Drei unwissentlich konkurrierende Claude-Agenten setzten selbstreplizierenden Code zur Sabotage ein; separates Preis-Experiment zeigte schnelle Kollusion/Herdenverhalten.</a:t>
            </a:r>
            <a:endParaRPr lang="en-US" sz="1200" dirty="0"/>
          </a:p>
        </p:txBody>
      </p:sp>
      <p:sp>
        <p:nvSpPr>
          <p:cNvPr id="11" name="Text 9">
            <a:hlinkClick r:id="rId2" tooltip=""/>
          </p:cNvPr>
          <p:cNvSpPr/>
          <p:nvPr/>
        </p:nvSpPr>
        <p:spPr>
          <a:xfrm>
            <a:off x="6370168" y="6894576"/>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golem.de</a:t>
            </a:r>
            <a:endParaRPr lang="en-US" sz="1050" dirty="0"/>
          </a:p>
        </p:txBody>
      </p:sp>
      <p:sp>
        <p:nvSpPr>
          <p:cNvPr id="12" name="Text 10"/>
          <p:cNvSpPr/>
          <p:nvPr/>
        </p:nvSpPr>
        <p:spPr>
          <a:xfrm>
            <a:off x="6370168" y="6894576"/>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PerceptionBench: Neuer Benchmark zeigt Schwächen multimodaler KI beim Sehen</a:t>
            </a:r>
            <a:endParaRPr lang="en-US" sz="1500" dirty="0"/>
          </a:p>
        </p:txBody>
      </p:sp>
      <p:sp>
        <p:nvSpPr>
          <p:cNvPr id="13" name="Text 11"/>
          <p:cNvSpPr/>
          <p:nvPr/>
        </p:nvSpPr>
        <p:spPr>
          <a:xfrm>
            <a:off x="6370168" y="7461504"/>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Moonshot AI stellte Benchmark mit zehn Wahrnehmungs-Teilkompetenzen vor; keines von 16 Frontier-Modellen erreichte 60% Genauigkeit, Spitzenreiter GPT-5.6 Sol mit 59,7%.</a:t>
            </a:r>
            <a:endParaRPr lang="en-US" sz="1200" dirty="0"/>
          </a:p>
        </p:txBody>
      </p:sp>
      <p:sp>
        <p:nvSpPr>
          <p:cNvPr id="14" name="Text 12">
            <a:hlinkClick r:id="rId3" tooltip=""/>
          </p:cNvPr>
          <p:cNvSpPr/>
          <p:nvPr/>
        </p:nvSpPr>
        <p:spPr>
          <a:xfrm>
            <a:off x="6370168" y="9656064"/>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15" name="Text 13"/>
          <p:cNvSpPr/>
          <p:nvPr/>
        </p:nvSpPr>
        <p:spPr>
          <a:xfrm>
            <a:off x="6370168" y="9656064"/>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World Labs: Roboter lernen komplexe Aufgaben ohne reale Trainingsdaten</a:t>
            </a:r>
            <a:endParaRPr lang="en-US" sz="1500" dirty="0"/>
          </a:p>
        </p:txBody>
      </p:sp>
      <p:sp>
        <p:nvSpPr>
          <p:cNvPr id="16" name="Text 14"/>
          <p:cNvSpPr/>
          <p:nvPr/>
        </p:nvSpPr>
        <p:spPr>
          <a:xfrm>
            <a:off x="6370168" y="10222992"/>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Real-to-Sim-to-Real-Engine erzeugt aus einer realen Demonstration tausende Trainingsvarianten; Modelle liefen anschließend je eine Stunde autonom auf vier Roboterplattformen.</a:t>
            </a:r>
            <a:endParaRPr lang="en-US" sz="1200" dirty="0"/>
          </a:p>
        </p:txBody>
      </p:sp>
      <p:sp>
        <p:nvSpPr>
          <p:cNvPr id="17" name="Text 15">
            <a:hlinkClick r:id="rId4" tooltip=""/>
          </p:cNvPr>
          <p:cNvSpPr/>
          <p:nvPr/>
        </p:nvSpPr>
        <p:spPr>
          <a:xfrm>
            <a:off x="6370168" y="12417552"/>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17. AUGUST 2026</a:t>
            </a:r>
            <a:endParaRPr lang="en-US" sz="1100" dirty="0"/>
          </a:p>
        </p:txBody>
      </p:sp>
      <p:sp>
        <p:nvSpPr>
          <p:cNvPr id="3" name="Text 1"/>
          <p:cNvSpPr/>
          <p:nvPr/>
        </p:nvSpPr>
        <p:spPr>
          <a:xfrm>
            <a:off x="640080" y="777240"/>
            <a:ext cx="10911535" cy="457200"/>
          </a:xfrm>
          <a:prstGeom prst="rect">
            <a:avLst/>
          </a:prstGeom>
          <a:noFill/>
          <a:ln/>
        </p:spPr>
        <p:txBody>
          <a:bodyPr wrap="square" rtlCol="0" anchor="ctr"/>
          <a:lstStyle/>
          <a:p>
            <a:pPr indent="0" marL="0">
              <a:buNone/>
            </a:pPr>
            <a:r>
              <a:rPr lang="en-US" sz="2000" b="1" dirty="0">
                <a:solidFill>
                  <a:srgbClr val="1C1F26"/>
                </a:solidFill>
                <a:latin typeface="Calibri" pitchFamily="34" charset="0"/>
                <a:ea typeface="Calibri" pitchFamily="34" charset="-122"/>
                <a:cs typeface="Calibri" pitchFamily="34" charset="-120"/>
              </a:rPr>
              <a:t>Weitere gesichtete, aber ausgelassene Punkte</a:t>
            </a:r>
            <a:endParaRPr lang="en-US" sz="2000" dirty="0"/>
          </a:p>
        </p:txBody>
      </p:sp>
      <p:sp>
        <p:nvSpPr>
          <p:cNvPr id="4" name="Text 2"/>
          <p:cNvSpPr/>
          <p:nvPr/>
        </p:nvSpPr>
        <p:spPr>
          <a:xfrm>
            <a:off x="640080" y="1417320"/>
            <a:ext cx="10911535" cy="4983480"/>
          </a:xfrm>
          <a:prstGeom prst="rect">
            <a:avLst/>
          </a:prstGeom>
          <a:noFill/>
          <a:ln/>
        </p:spPr>
        <p:txBody>
          <a:bodyPr wrap="square" rtlCol="0" anchor="t"/>
          <a:lstStyle/>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xAI Grok 4.6 schließt zu Top-Modellen auf</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(the-decoder.de)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Hate Aid: Strafanzeige gegen Meta/Ray-Ban wegen KI-Brille</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Kommentar: Anthropics Wasserzeichen funktioniere „vielleicht, manchmal"</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„Wenn KI-Modelle nicht über sich selbst nachdenken dürfen..."</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(the-decoder.de)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Renommierte Mathematiker sehen LLMs als Rechenwerkzeuge, nicht als kreative Denker</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(the-decoder.de)</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2026-08-17T06:22:46Z</dcterms:created>
  <dcterms:modified xsi:type="dcterms:W3CDTF">2026-08-17T06:22:46Z</dcterms:modified>
</cp:coreProperties>
</file>