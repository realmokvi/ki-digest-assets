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hyperlink" Target="https://www.heise.de/news/Herdr-Terminal-Multiplexer-sortiert-Flotten-von-Coding-Agenten-11448520.html" TargetMode="External"/><Relationship Id="rId2" Type="http://schemas.openxmlformats.org/officeDocument/2006/relationships/hyperlink" Target="https://the-decoder.de/iris-mini-und-iris-pro-staerkste-offene-suchagenten-ihrer-klasse-stehen-jetzt-als-open-weight-modelle-bereit/" TargetMode="External"/><Relationship Id="rId3" Type="http://schemas.openxmlformats.org/officeDocument/2006/relationships/hyperlink" Target="https://the-decoder.de/elevenlabs-stellt-neues-ki-musikmodell-music-2-5-vor-das-natuerlicher-klingen-soll/" TargetMode="External"/><Relationship Id="rId4" Type="http://schemas.openxmlformats.org/officeDocument/2006/relationships/hyperlink" Target="https://code.claude.com/docs/en/changelog" TargetMode="External"/><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https://www.heise.de/news/Vom-Prompt-zum-Skill-Kontext-gezielt-nutzen-und-Prompt-Ketten-aufteilen-11447623.html" TargetMode="External"/><Relationship Id="rId2" Type="http://schemas.openxmlformats.org/officeDocument/2006/relationships/hyperlink" Target="https://t3n.de/news/claude-skills-ki-workflows-automatisieren-1759940/" TargetMode="External"/><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www.heise.de/news/EU-Kommission-an-KI-Firmen-Bringt-euren-Laden-in-Ordnung-11451387.html" TargetMode="External"/><Relationship Id="rId2" Type="http://schemas.openxmlformats.org/officeDocument/2006/relationships/hyperlink" Target="https://the-decoder.de/ki-entwicklung-verlangsamen-openai-chef-sam-altman-und-elon-musk-pflichten-anthropic-ceo-bei/" TargetMode="External"/><Relationship Id="rId3" Type="http://schemas.openxmlformats.org/officeDocument/2006/relationships/hyperlink" Target="https://the-decoder.de/denkschritte-von-ki-modellen-lassen-sich-in-deren-internen-zustaenden-nachweisen/" TargetMode="External"/><Relationship Id="rId4" Type="http://schemas.openxmlformats.org/officeDocument/2006/relationships/hyperlink" Target="https://the-decoder.de/ki-im-studium-training-hilft-pauschales-verbot-schadet/" TargetMode="External"/><Relationship Id="rId5" Type="http://schemas.openxmlformats.org/officeDocument/2006/relationships/hyperlink" Target="https://the-decoder.de/gpt-6-astra-zeigt-auch-beim-raeumlichen-verstaendnis-grosse-fortschritte/" TargetMode="External"/><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https://the-decoder.de/anthropic-chef-dario-amodei-warnt-vor-ki-selbstverbesserung-und-fordert-ein-tempolimit-fuer-die-branche/" TargetMode="External"/><Relationship Id="rId2" Type="http://schemas.openxmlformats.org/officeDocument/2006/relationships/hyperlink" Target="https://the-decoder.de/ki-zentralbank-nvidia-will-bis-zu-zehn-milliarden-dollar-in-anthropics-rekord-boersengang-stecken/" TargetMode="External"/><Relationship Id="rId3" Type="http://schemas.openxmlformats.org/officeDocument/2006/relationships/hyperlink" Target="https://www.heise.de/hintergrund/Wie-man-KI-Agenten-in-Visual-Studio-und-VS-Code-produktiv-einsetzt-11436243.html" TargetMode="External"/><Relationship Id="rId4" Type="http://schemas.openxmlformats.org/officeDocument/2006/relationships/hyperlink" Target="https://www.heise.de/hintergrund/KI-Agenten-in-der-Container-Security-Erfahrungen-aus-der-Praxis-11400640.html" TargetMode="External"/><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C1F26"/>
        </a:solidFill>
      </p:bgPr>
    </p:bg>
    <p:spTree>
      <p:nvGrpSpPr>
        <p:cNvPr id="1" name=""/>
        <p:cNvGrpSpPr/>
        <p:nvPr/>
      </p:nvGrpSpPr>
      <p:grpSpPr>
        <a:xfrm>
          <a:off x="0" y="0"/>
          <a:ext cx="0" cy="0"/>
          <a:chOff x="0" y="0"/>
          <a:chExt cx="0" cy="0"/>
        </a:xfrm>
      </p:grpSpPr>
      <p:sp>
        <p:nvSpPr>
          <p:cNvPr id="2" name="Shape 0"/>
          <p:cNvSpPr/>
          <p:nvPr/>
        </p:nvSpPr>
        <p:spPr>
          <a:xfrm>
            <a:off x="9265615" y="-2377440"/>
            <a:ext cx="5852160" cy="5852160"/>
          </a:xfrm>
          <a:prstGeom prst="ellipse">
            <a:avLst/>
          </a:prstGeom>
          <a:solidFill>
            <a:srgbClr val="F0A63D">
              <a:alpha val="12000"/>
            </a:srgbClr>
          </a:solidFill>
          <a:ln/>
        </p:spPr>
      </p:sp>
      <p:sp>
        <p:nvSpPr>
          <p:cNvPr id="3" name="Shape 1"/>
          <p:cNvSpPr/>
          <p:nvPr/>
        </p:nvSpPr>
        <p:spPr>
          <a:xfrm>
            <a:off x="-1463040" y="5029200"/>
            <a:ext cx="3108960" cy="3108960"/>
          </a:xfrm>
          <a:prstGeom prst="ellipse">
            <a:avLst/>
          </a:prstGeom>
          <a:solidFill>
            <a:srgbClr val="F0A63D">
              <a:alpha val="8000"/>
            </a:srgbClr>
          </a:solidFill>
          <a:ln/>
        </p:spPr>
      </p:sp>
      <p:sp>
        <p:nvSpPr>
          <p:cNvPr id="4" name="Text 2"/>
          <p:cNvSpPr/>
          <p:nvPr/>
        </p:nvSpPr>
        <p:spPr>
          <a:xfrm>
            <a:off x="640080" y="822960"/>
            <a:ext cx="7315200" cy="731520"/>
          </a:xfrm>
          <a:prstGeom prst="rect">
            <a:avLst/>
          </a:prstGeom>
          <a:noFill/>
          <a:ln/>
        </p:spPr>
        <p:txBody>
          <a:bodyPr wrap="square"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KI-Update</a:t>
            </a:r>
            <a:endParaRPr lang="en-US" sz="4000" dirty="0"/>
          </a:p>
        </p:txBody>
      </p:sp>
      <p:sp>
        <p:nvSpPr>
          <p:cNvPr id="5" name="Text 3"/>
          <p:cNvSpPr/>
          <p:nvPr/>
        </p:nvSpPr>
        <p:spPr>
          <a:xfrm>
            <a:off x="6979615" y="896112"/>
            <a:ext cx="4572000" cy="457200"/>
          </a:xfrm>
          <a:prstGeom prst="rect">
            <a:avLst/>
          </a:prstGeom>
          <a:noFill/>
          <a:ln/>
        </p:spPr>
        <p:txBody>
          <a:bodyPr wrap="square" rtlCol="0" anchor="ctr"/>
          <a:lstStyle/>
          <a:p>
            <a:pPr algn="r" indent="0" marL="0">
              <a:buNone/>
            </a:pPr>
            <a:r>
              <a:rPr lang="en-US" sz="1500" b="1" spc="200" kern="0" dirty="0">
                <a:solidFill>
                  <a:srgbClr val="F0A63D"/>
                </a:solidFill>
                <a:latin typeface="Calibri" pitchFamily="34" charset="0"/>
                <a:ea typeface="Calibri" pitchFamily="34" charset="-122"/>
                <a:cs typeface="Calibri" pitchFamily="34" charset="-120"/>
              </a:rPr>
              <a:t>14. SEPTEMBER 2026</a:t>
            </a:r>
            <a:endParaRPr lang="en-US" sz="1500" dirty="0"/>
          </a:p>
        </p:txBody>
      </p:sp>
      <p:sp>
        <p:nvSpPr>
          <p:cNvPr id="6" name="Text 4"/>
          <p:cNvSpPr/>
          <p:nvPr/>
        </p:nvSpPr>
        <p:spPr>
          <a:xfrm>
            <a:off x="640080" y="1600200"/>
            <a:ext cx="9601200" cy="548640"/>
          </a:xfrm>
          <a:prstGeom prst="rect">
            <a:avLst/>
          </a:prstGeom>
          <a:noFill/>
          <a:ln/>
        </p:spPr>
        <p:txBody>
          <a:bodyPr wrap="square" rtlCol="0" anchor="ctr"/>
          <a:lstStyle/>
          <a:p>
            <a:pPr indent="0" marL="0">
              <a:buNone/>
            </a:pPr>
            <a:r>
              <a:rPr lang="en-US" sz="1600" dirty="0">
                <a:solidFill>
                  <a:srgbClr val="9BA3B0"/>
                </a:solidFill>
                <a:latin typeface="Calibri" pitchFamily="34" charset="0"/>
                <a:ea typeface="Calibri" pitchFamily="34" charset="-122"/>
                <a:cs typeface="Calibri" pitchFamily="34" charset="-120"/>
              </a:rPr>
              <a:t>Wochenstart-Ausgabe — Freitag bis Montag, inkl. Wochenrückblick</a:t>
            </a:r>
            <a:endParaRPr lang="en-US" sz="1600" dirty="0"/>
          </a:p>
        </p:txBody>
      </p:sp>
      <p:sp>
        <p:nvSpPr>
          <p:cNvPr id="7" name="Text 5"/>
          <p:cNvSpPr/>
          <p:nvPr/>
        </p:nvSpPr>
        <p:spPr>
          <a:xfrm>
            <a:off x="640080"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4</a:t>
            </a:r>
            <a:endParaRPr lang="en-US" sz="4400" dirty="0"/>
          </a:p>
        </p:txBody>
      </p:sp>
      <p:sp>
        <p:nvSpPr>
          <p:cNvPr id="8" name="Text 6"/>
          <p:cNvSpPr/>
          <p:nvPr/>
        </p:nvSpPr>
        <p:spPr>
          <a:xfrm>
            <a:off x="640080"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PRAXIS-NEWS</a:t>
            </a:r>
            <a:endParaRPr lang="en-US" sz="1100" dirty="0"/>
          </a:p>
        </p:txBody>
      </p:sp>
      <p:sp>
        <p:nvSpPr>
          <p:cNvPr id="9" name="Text 7"/>
          <p:cNvSpPr/>
          <p:nvPr/>
        </p:nvSpPr>
        <p:spPr>
          <a:xfrm>
            <a:off x="3367964"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0" name="Text 8"/>
          <p:cNvSpPr/>
          <p:nvPr/>
        </p:nvSpPr>
        <p:spPr>
          <a:xfrm>
            <a:off x="3367964"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TIPPS &amp; TRICKS</a:t>
            </a:r>
            <a:endParaRPr lang="en-US" sz="1100" dirty="0"/>
          </a:p>
        </p:txBody>
      </p:sp>
      <p:sp>
        <p:nvSpPr>
          <p:cNvPr id="11" name="Text 9"/>
          <p:cNvSpPr/>
          <p:nvPr/>
        </p:nvSpPr>
        <p:spPr>
          <a:xfrm>
            <a:off x="6095848"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2</a:t>
            </a:r>
            <a:endParaRPr lang="en-US" sz="4400" dirty="0"/>
          </a:p>
        </p:txBody>
      </p:sp>
      <p:sp>
        <p:nvSpPr>
          <p:cNvPr id="12" name="Text 10"/>
          <p:cNvSpPr/>
          <p:nvPr/>
        </p:nvSpPr>
        <p:spPr>
          <a:xfrm>
            <a:off x="6095848"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REGULIERUNG/POLITIK</a:t>
            </a:r>
            <a:endParaRPr lang="en-US" sz="1100" dirty="0"/>
          </a:p>
        </p:txBody>
      </p:sp>
      <p:sp>
        <p:nvSpPr>
          <p:cNvPr id="13" name="Text 11"/>
          <p:cNvSpPr/>
          <p:nvPr/>
        </p:nvSpPr>
        <p:spPr>
          <a:xfrm>
            <a:off x="8823731" y="4572000"/>
            <a:ext cx="2453564" cy="685800"/>
          </a:xfrm>
          <a:prstGeom prst="rect">
            <a:avLst/>
          </a:prstGeom>
          <a:noFill/>
          <a:ln/>
        </p:spPr>
        <p:txBody>
          <a:bodyPr wrap="square" rtlCol="0" anchor="ctr"/>
          <a:lstStyle/>
          <a:p>
            <a:pPr indent="0" marL="0">
              <a:buNone/>
            </a:pPr>
            <a:r>
              <a:rPr lang="en-US" sz="4400" b="1" dirty="0">
                <a:solidFill>
                  <a:srgbClr val="F0A63D"/>
                </a:solidFill>
                <a:latin typeface="Calibri" pitchFamily="34" charset="0"/>
                <a:ea typeface="Calibri" pitchFamily="34" charset="-122"/>
                <a:cs typeface="Calibri" pitchFamily="34" charset="-120"/>
              </a:rPr>
              <a:t>3</a:t>
            </a:r>
            <a:endParaRPr lang="en-US" sz="4400" dirty="0"/>
          </a:p>
        </p:txBody>
      </p:sp>
      <p:sp>
        <p:nvSpPr>
          <p:cNvPr id="14" name="Text 12"/>
          <p:cNvSpPr/>
          <p:nvPr/>
        </p:nvSpPr>
        <p:spPr>
          <a:xfrm>
            <a:off x="8823731" y="5285232"/>
            <a:ext cx="2453564" cy="365760"/>
          </a:xfrm>
          <a:prstGeom prst="rect">
            <a:avLst/>
          </a:prstGeom>
          <a:noFill/>
          <a:ln/>
        </p:spPr>
        <p:txBody>
          <a:bodyPr wrap="square" rtlCol="0" anchor="ctr"/>
          <a:lstStyle/>
          <a:p>
            <a:pPr indent="0" marL="0">
              <a:buNone/>
            </a:pPr>
            <a:r>
              <a:rPr lang="en-US" sz="1100" b="1" spc="100" kern="0" dirty="0">
                <a:solidFill>
                  <a:srgbClr val="9BA3B0"/>
                </a:solidFill>
                <a:latin typeface="Calibri" pitchFamily="34" charset="0"/>
                <a:ea typeface="Calibri" pitchFamily="34" charset="-122"/>
                <a:cs typeface="Calibri" pitchFamily="34" charset="-120"/>
              </a:rPr>
              <a:t>BEDEUTENDE FORSCHUNG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14. SEPTEMBER 2026</a:t>
            </a:r>
            <a:endParaRPr lang="en-US" sz="1100" dirty="0"/>
          </a:p>
        </p:txBody>
      </p:sp>
      <p:sp>
        <p:nvSpPr>
          <p:cNvPr id="3" name="Shape 1"/>
          <p:cNvSpPr/>
          <p:nvPr/>
        </p:nvSpPr>
        <p:spPr>
          <a:xfrm>
            <a:off x="640080" y="822960"/>
            <a:ext cx="10911535" cy="5486400"/>
          </a:xfrm>
          <a:prstGeom prst="roundRect">
            <a:avLst>
              <a:gd name="adj" fmla="val 1333"/>
            </a:avLst>
          </a:prstGeom>
          <a:solidFill>
            <a:srgbClr val="FFF6E8"/>
          </a:solidFill>
          <a:ln/>
        </p:spPr>
      </p:sp>
      <p:sp>
        <p:nvSpPr>
          <p:cNvPr id="4" name="Text 2"/>
          <p:cNvSpPr/>
          <p:nvPr/>
        </p:nvSpPr>
        <p:spPr>
          <a:xfrm>
            <a:off x="1005840" y="1143000"/>
            <a:ext cx="10180015" cy="274320"/>
          </a:xfrm>
          <a:prstGeom prst="rect">
            <a:avLst/>
          </a:prstGeom>
          <a:noFill/>
          <a:ln/>
        </p:spPr>
        <p:txBody>
          <a:bodyPr wrap="square" rtlCol="0" anchor="ctr"/>
          <a:lstStyle/>
          <a:p>
            <a:pPr indent="0" marL="0">
              <a:buNone/>
            </a:pPr>
            <a:r>
              <a:rPr lang="en-US" sz="1200" b="1" spc="100" kern="0" dirty="0">
                <a:solidFill>
                  <a:srgbClr val="B8690A"/>
                </a:solidFill>
                <a:latin typeface="Calibri" pitchFamily="34" charset="0"/>
                <a:ea typeface="Calibri" pitchFamily="34" charset="-122"/>
                <a:cs typeface="Calibri" pitchFamily="34" charset="-120"/>
              </a:rPr>
              <a:t>QUELLENCHECK</a:t>
            </a:r>
            <a:endParaRPr lang="en-US" sz="1200" dirty="0"/>
          </a:p>
        </p:txBody>
      </p:sp>
      <p:sp>
        <p:nvSpPr>
          <p:cNvPr id="5" name="Text 3"/>
          <p:cNvSpPr/>
          <p:nvPr/>
        </p:nvSpPr>
        <p:spPr>
          <a:xfrm>
            <a:off x="1005840" y="1435608"/>
            <a:ext cx="10180015" cy="2103120"/>
          </a:xfrm>
          <a:prstGeom prst="rect">
            <a:avLst/>
          </a:prstGeom>
          <a:noFill/>
          <a:ln/>
        </p:spPr>
        <p:txBody>
          <a:bodyPr wrap="square" rtlCol="0" anchor="ctr"/>
          <a:lstStyle/>
          <a:p>
            <a:pPr indent="0" marL="0">
              <a:lnSpc>
                <a:spcPct val="130000"/>
              </a:lnSpc>
              <a:buNone/>
            </a:pPr>
            <a:r>
              <a:rPr lang="en-US" sz="1300" dirty="0">
                <a:solidFill>
                  <a:srgbClr val="4A4030"/>
                </a:solidFill>
                <a:latin typeface="Calibri" pitchFamily="34" charset="0"/>
                <a:ea typeface="Calibri" pitchFamily="34" charset="-122"/>
                <a:cs typeface="Calibri" pitchFamily="34" charset="-120"/>
              </a:rPr>
              <a:t>Alle geprüften deutschsprachigen Primärquellen (heise, t3n, the-decoder.de) sind aktiv und liefern tagesaktuelle KI-Inhalte; die bekannten Probleme bei golem.de (Cookie-Wall) und Table.Briefings (HTTP 403) bestehen unverändert fort, die WebSearch-Workarounds funktionieren aber weiterhin zuverlässig. Neu aufgefallen: Auch der direkte technische Zugriff auf Tagesschau, Zeit Online, Süddeutsche Zeitung und reddit.com scheitert derzeit – laut Reddit-Statusseite ohne echte Störung, vermutlich eine Werkzeug-seitige Einschränkung, kein Grund zur Entfernung dieser Quellen. Handlungsbedarf bei der Quellenliste selbst sehen wir aktuell nicht; als möglicher künftiger Ideengeber (nicht als Primärquelle) wurde ainauten.com vorgemerkt.</a:t>
            </a:r>
            <a:endParaRPr lang="en-US" sz="1300" dirty="0"/>
          </a:p>
        </p:txBody>
      </p:sp>
      <p:sp>
        <p:nvSpPr>
          <p:cNvPr id="6" name="Text 4"/>
          <p:cNvSpPr/>
          <p:nvPr/>
        </p:nvSpPr>
        <p:spPr>
          <a:xfrm>
            <a:off x="1005840" y="3611880"/>
            <a:ext cx="10180015" cy="274320"/>
          </a:xfrm>
          <a:prstGeom prst="rect">
            <a:avLst/>
          </a:prstGeom>
          <a:noFill/>
          <a:ln/>
        </p:spPr>
        <p:txBody>
          <a:bodyPr wrap="square" rtlCol="0" anchor="ctr"/>
          <a:lstStyle/>
          <a:p>
            <a:pPr indent="0" marL="0">
              <a:buNone/>
            </a:pPr>
            <a:r>
              <a:rPr lang="en-US" sz="1200" b="1" spc="100" kern="0" dirty="0">
                <a:solidFill>
                  <a:srgbClr val="B8690A"/>
                </a:solidFill>
                <a:latin typeface="Calibri" pitchFamily="34" charset="0"/>
                <a:ea typeface="Calibri" pitchFamily="34" charset="-122"/>
                <a:cs typeface="Calibri" pitchFamily="34" charset="-120"/>
              </a:rPr>
              <a:t>WOCHE IM RÜCKBLICK (FR 07.09. – MO 14.09.)</a:t>
            </a:r>
            <a:endParaRPr lang="en-US" sz="1200" dirty="0"/>
          </a:p>
        </p:txBody>
      </p:sp>
      <p:sp>
        <p:nvSpPr>
          <p:cNvPr id="7" name="Text 5"/>
          <p:cNvSpPr/>
          <p:nvPr/>
        </p:nvSpPr>
        <p:spPr>
          <a:xfrm>
            <a:off x="1005840" y="3904488"/>
            <a:ext cx="10180015" cy="2103120"/>
          </a:xfrm>
          <a:prstGeom prst="rect">
            <a:avLst/>
          </a:prstGeom>
          <a:noFill/>
          <a:ln/>
        </p:spPr>
        <p:txBody>
          <a:bodyPr wrap="square" rtlCol="0" anchor="ctr"/>
          <a:lstStyle/>
          <a:p>
            <a:pPr indent="0" marL="0">
              <a:lnSpc>
                <a:spcPct val="130000"/>
              </a:lnSpc>
              <a:buNone/>
            </a:pPr>
            <a:r>
              <a:rPr lang="en-US" sz="1300" dirty="0">
                <a:solidFill>
                  <a:srgbClr val="4A4030"/>
                </a:solidFill>
                <a:latin typeface="Calibri" pitchFamily="34" charset="0"/>
                <a:ea typeface="Calibri" pitchFamily="34" charset="-122"/>
                <a:cs typeface="Calibri" pitchFamily="34" charset="-120"/>
              </a:rPr>
              <a:t>Praxis-News: Die Woche startete am Montag mit Fermats letztem Satz, neuer Musikgenerierung (Google Lyria 3.5) und präziserer Wettervorhersage (WeatherNext 3); es folgten u. a. Alibabas Fahr-KI Qwen-Drive-1.0, Metas Agent „Muse“, Hugging Face „ML Intern“, Adobe Acrobat als KI-Plattform sowie am Freitag vier neue Modelle. Heute: Herdr-Terminal-Multiplexer, AllSparks Iris-Suchagenten, ElevenLabs Music 2.5, Claude-Code-Update. Tipps &amp; Tricks: Plattform-Unabhängigkeit beim Vibe-Coding, OpenAIs Leitfaden gegen „KI-Slop“, Deep-Research-Prompts, Loop-Engineering, Prompt-Injection gegen Schummeln, Anthropics Prompttipps für Fable 5.1; heute Context Engineering/Prompt-Ketten und der Claude-Skills-Workflow. Regulierung/Politik: US-Zeitungsklage gegen OpenAI/Microsoft, Auszahlungschaos beim Anthropic-Vergleich, OpenAIs Ruf nach US-Sicherheitsregeln, Kritik am EU-Gesetzentwurf CADA; heute EU-Auskunftsersuchen an über 30 KI-Firmen und Amodeis Tempolimit-Forderung. Bedeutende Forschung: gekapertes Wiki durch OpenAI-Agenten, DeepMind-Experiment zu Betrügern/Whistleblowern, KI-designter Wirkstoff, WeChat-Wurmlücke, Anthropics vierter Sicherheitsvorfall-Bericht und Missbrauchsbericht; heute nachweisbare Denkschritte in KI-Modellen, eine Studie zu KI-Verboten im Studium und GPT-6 Astras räumliches Verständnis.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14. SEPTEMBER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PRAXIS-NEWS</a:t>
            </a:r>
            <a:endParaRPr lang="en-US" sz="2000" dirty="0"/>
          </a:p>
        </p:txBody>
      </p:sp>
      <p:sp>
        <p:nvSpPr>
          <p:cNvPr id="4" name="Shape 2"/>
          <p:cNvSpPr/>
          <p:nvPr/>
        </p:nvSpPr>
        <p:spPr>
          <a:xfrm>
            <a:off x="640080" y="1399032"/>
            <a:ext cx="310896" cy="310896"/>
          </a:xfrm>
          <a:prstGeom prst="ellipse">
            <a:avLst/>
          </a:prstGeom>
          <a:solidFill>
            <a:srgbClr val="F0A63D"/>
          </a:solidFill>
          <a:ln/>
        </p:spPr>
      </p:sp>
      <p:sp>
        <p:nvSpPr>
          <p:cNvPr id="5" name="Text 3"/>
          <p:cNvSpPr/>
          <p:nvPr/>
        </p:nvSpPr>
        <p:spPr>
          <a:xfrm>
            <a:off x="640080" y="13990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3716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Herdr: Terminal-Multiplexer für Flotten von Coding-Agenten</a:t>
            </a:r>
            <a:endParaRPr lang="en-US" sz="1500" dirty="0"/>
          </a:p>
        </p:txBody>
      </p:sp>
      <p:sp>
        <p:nvSpPr>
          <p:cNvPr id="7" name="Text 5"/>
          <p:cNvSpPr/>
          <p:nvPr/>
        </p:nvSpPr>
        <p:spPr>
          <a:xfrm>
            <a:off x="1143000" y="17373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Der Open-Source-Terminal-Multiplexer Herdr (Rust, Apache-2.0) erschien am 07.09.2026 in Version 0.9 und wurde am 11.09.2026 von heise online vorgestellt. Als tmux-Alternative verwaltet er mehrere gleichzeitig laufende KI-Coding-Agenten über verschiedene Projekte hinweg und zeigt deren Status übersichtlich in einer Sidebar. Version 0.9 unterstützt zusätzlich mehrere Clients mit unabhängigen Workspace-/Tab-Ansichten. Entwickler Can Celik wurde im August 2026 ins Y-Combinator-Herbstprogramm aufgenommen.</a:t>
            </a:r>
            <a:endParaRPr lang="en-US" sz="1150" dirty="0"/>
          </a:p>
        </p:txBody>
      </p:sp>
      <p:sp>
        <p:nvSpPr>
          <p:cNvPr id="8" name="Text 6">
            <a:hlinkClick r:id="rId1" tooltip=""/>
          </p:cNvPr>
          <p:cNvSpPr/>
          <p:nvPr/>
        </p:nvSpPr>
        <p:spPr>
          <a:xfrm>
            <a:off x="1143000" y="25328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2656332"/>
            <a:ext cx="310896" cy="310896"/>
          </a:xfrm>
          <a:prstGeom prst="ellipse">
            <a:avLst/>
          </a:prstGeom>
          <a:solidFill>
            <a:srgbClr val="F0A63D"/>
          </a:solidFill>
          <a:ln/>
        </p:spPr>
      </p:sp>
      <p:sp>
        <p:nvSpPr>
          <p:cNvPr id="10" name="Text 8"/>
          <p:cNvSpPr/>
          <p:nvPr/>
        </p:nvSpPr>
        <p:spPr>
          <a:xfrm>
            <a:off x="640080" y="26563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26289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Iris-mini und Iris-pro: offene Suchagenten von AllSpark</a:t>
            </a:r>
            <a:endParaRPr lang="en-US" sz="1500" dirty="0"/>
          </a:p>
        </p:txBody>
      </p:sp>
      <p:sp>
        <p:nvSpPr>
          <p:cNvPr id="12" name="Text 10"/>
          <p:cNvSpPr/>
          <p:nvPr/>
        </p:nvSpPr>
        <p:spPr>
          <a:xfrm>
            <a:off x="1143000" y="29946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AllSpark veröffentlichte am 13.09.2026 zwei offene Suchagenten-Modelle: Iris-mini (35 Mrd. Parameter) und Iris-pro (397 Mrd. Parameter), beide mit 256.000 Token Kontextfenster. Die Agenten recherchieren eigenständig im Web und bewerten selbst, wann genug Belege vorliegen. Auf Benchmarks wie BrowseComp (88,6) und Humanity's Last Exam (56,4) erzielen sie laut Artikel Spitzenwerte für offene Modelle ihrer Größenklasse. Modellgewichte stehen auf Hugging Face bereit.</a:t>
            </a:r>
            <a:endParaRPr lang="en-US" sz="1150" dirty="0"/>
          </a:p>
        </p:txBody>
      </p:sp>
      <p:sp>
        <p:nvSpPr>
          <p:cNvPr id="13" name="Text 11">
            <a:hlinkClick r:id="rId2" tooltip=""/>
          </p:cNvPr>
          <p:cNvSpPr/>
          <p:nvPr/>
        </p:nvSpPr>
        <p:spPr>
          <a:xfrm>
            <a:off x="1143000" y="37901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4" name="Shape 12"/>
          <p:cNvSpPr/>
          <p:nvPr/>
        </p:nvSpPr>
        <p:spPr>
          <a:xfrm>
            <a:off x="640080" y="3913632"/>
            <a:ext cx="310896" cy="310896"/>
          </a:xfrm>
          <a:prstGeom prst="ellipse">
            <a:avLst/>
          </a:prstGeom>
          <a:solidFill>
            <a:srgbClr val="F0A63D"/>
          </a:solidFill>
          <a:ln/>
        </p:spPr>
      </p:sp>
      <p:sp>
        <p:nvSpPr>
          <p:cNvPr id="15" name="Text 13"/>
          <p:cNvSpPr/>
          <p:nvPr/>
        </p:nvSpPr>
        <p:spPr>
          <a:xfrm>
            <a:off x="640080" y="39136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3</a:t>
            </a:r>
            <a:endParaRPr lang="en-US" sz="1300" dirty="0"/>
          </a:p>
        </p:txBody>
      </p:sp>
      <p:sp>
        <p:nvSpPr>
          <p:cNvPr id="16" name="Text 14"/>
          <p:cNvSpPr/>
          <p:nvPr/>
        </p:nvSpPr>
        <p:spPr>
          <a:xfrm>
            <a:off x="1143000" y="38862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ElevenLabs stellt Musikmodell Music 2.5 vor</a:t>
            </a:r>
            <a:endParaRPr lang="en-US" sz="1500" dirty="0"/>
          </a:p>
        </p:txBody>
      </p:sp>
      <p:sp>
        <p:nvSpPr>
          <p:cNvPr id="17" name="Text 15"/>
          <p:cNvSpPr/>
          <p:nvPr/>
        </p:nvSpPr>
        <p:spPr>
          <a:xfrm>
            <a:off x="1143000" y="42519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ElevenLabs stellte am 13.09.2026 Music 2.5 vor, das laut the-decoder.de „dichter und natürlicher“ klingen soll als der Vorgänger. In einem Blindtest mit rund 48.000 Vergleichspaaren wurde v2.5 vor allem bei R&amp;B, Soul, Hip-Hop, Rock und Orchestermusik bevorzugt. Der Gratis-Tarif bietet 5 verlustfreie Downloads täglich, der Pro-Tarif 400 pro Monat. ElevenLabs betont, ausschließlich mit lizenzierten Trainingsdaten zu arbeiten.</a:t>
            </a:r>
            <a:endParaRPr lang="en-US" sz="1150" dirty="0"/>
          </a:p>
        </p:txBody>
      </p:sp>
      <p:sp>
        <p:nvSpPr>
          <p:cNvPr id="18" name="Text 16">
            <a:hlinkClick r:id="rId3" tooltip=""/>
          </p:cNvPr>
          <p:cNvSpPr/>
          <p:nvPr/>
        </p:nvSpPr>
        <p:spPr>
          <a:xfrm>
            <a:off x="1143000" y="50474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9" name="Shape 17"/>
          <p:cNvSpPr/>
          <p:nvPr/>
        </p:nvSpPr>
        <p:spPr>
          <a:xfrm>
            <a:off x="640080" y="5170932"/>
            <a:ext cx="310896" cy="310896"/>
          </a:xfrm>
          <a:prstGeom prst="ellipse">
            <a:avLst/>
          </a:prstGeom>
          <a:solidFill>
            <a:srgbClr val="F0A63D"/>
          </a:solidFill>
          <a:ln/>
        </p:spPr>
      </p:sp>
      <p:sp>
        <p:nvSpPr>
          <p:cNvPr id="20" name="Text 18"/>
          <p:cNvSpPr/>
          <p:nvPr/>
        </p:nvSpPr>
        <p:spPr>
          <a:xfrm>
            <a:off x="640080" y="517093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4</a:t>
            </a:r>
            <a:endParaRPr lang="en-US" sz="1300" dirty="0"/>
          </a:p>
        </p:txBody>
      </p:sp>
      <p:sp>
        <p:nvSpPr>
          <p:cNvPr id="21" name="Text 19"/>
          <p:cNvSpPr/>
          <p:nvPr/>
        </p:nvSpPr>
        <p:spPr>
          <a:xfrm>
            <a:off x="1143000" y="514350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Claude Code: Plugin-Eval-Tool und Output-Style-Umschalter</a:t>
            </a:r>
            <a:endParaRPr lang="en-US" sz="1500" dirty="0"/>
          </a:p>
        </p:txBody>
      </p:sp>
      <p:sp>
        <p:nvSpPr>
          <p:cNvPr id="22" name="Text 20"/>
          <p:cNvSpPr/>
          <p:nvPr/>
        </p:nvSpPr>
        <p:spPr>
          <a:xfrm>
            <a:off x="1143000" y="550926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Anthropic veröffentlichte am 11.09.2026 Claude Code Version 2.1.269 mit dem neuen Befehl „claude plugin eval“, der Eval-Suiten gegen Claude Code laufen lässt und Ergebnisse als JSON-/HTML-Report liefert. Zusätzlich kam „/output-style [name]“ hinzu, um Ausgabestile in allen Sitzungstypen umzuschalten. Weitere Neuerungen: ein Diff für von Bash-Kommandos geänderte Dateien und eine einstellbare Obergrenze für gleichzeitige Sub-Agenten. Folgeversion 2.1.270 behob einen Regressionsfehler bei Bash-Berechtigungsabfragen.</a:t>
            </a:r>
            <a:endParaRPr lang="en-US" sz="1150" dirty="0"/>
          </a:p>
        </p:txBody>
      </p:sp>
      <p:sp>
        <p:nvSpPr>
          <p:cNvPr id="23" name="Text 21">
            <a:hlinkClick r:id="rId4" tooltip=""/>
          </p:cNvPr>
          <p:cNvSpPr/>
          <p:nvPr/>
        </p:nvSpPr>
        <p:spPr>
          <a:xfrm>
            <a:off x="1143000" y="630478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code.claude.com</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14. SEPTEMBER 2026</a:t>
            </a:r>
            <a:endParaRPr lang="en-US" sz="1100" dirty="0"/>
          </a:p>
        </p:txBody>
      </p:sp>
      <p:sp>
        <p:nvSpPr>
          <p:cNvPr id="3" name="Text 1"/>
          <p:cNvSpPr/>
          <p:nvPr/>
        </p:nvSpPr>
        <p:spPr>
          <a:xfrm>
            <a:off x="640080" y="777240"/>
            <a:ext cx="10911535" cy="365760"/>
          </a:xfrm>
          <a:prstGeom prst="rect">
            <a:avLst/>
          </a:prstGeom>
          <a:noFill/>
          <a:ln/>
        </p:spPr>
        <p:txBody>
          <a:bodyPr wrap="square" rtlCol="0" anchor="ctr"/>
          <a:lstStyle/>
          <a:p>
            <a:pPr indent="0" marL="0">
              <a:buNone/>
            </a:pPr>
            <a:r>
              <a:rPr lang="en-US" sz="2000" b="1" spc="100" kern="0" dirty="0">
                <a:solidFill>
                  <a:srgbClr val="1C1F26"/>
                </a:solidFill>
                <a:latin typeface="Calibri" pitchFamily="34" charset="0"/>
                <a:ea typeface="Calibri" pitchFamily="34" charset="-122"/>
                <a:cs typeface="Calibri" pitchFamily="34" charset="-120"/>
              </a:rPr>
              <a:t>TIPPS &amp; TRICKS</a:t>
            </a:r>
            <a:endParaRPr lang="en-US" sz="2000" dirty="0"/>
          </a:p>
        </p:txBody>
      </p:sp>
      <p:sp>
        <p:nvSpPr>
          <p:cNvPr id="4" name="Shape 2"/>
          <p:cNvSpPr/>
          <p:nvPr/>
        </p:nvSpPr>
        <p:spPr>
          <a:xfrm>
            <a:off x="640080" y="1947672"/>
            <a:ext cx="310896" cy="310896"/>
          </a:xfrm>
          <a:prstGeom prst="ellipse">
            <a:avLst/>
          </a:prstGeom>
          <a:solidFill>
            <a:srgbClr val="F0A63D"/>
          </a:solidFill>
          <a:ln/>
        </p:spPr>
      </p:sp>
      <p:sp>
        <p:nvSpPr>
          <p:cNvPr id="5" name="Text 3"/>
          <p:cNvSpPr/>
          <p:nvPr/>
        </p:nvSpPr>
        <p:spPr>
          <a:xfrm>
            <a:off x="640080" y="19476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143000" y="19202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Context Engineering und Prompt-Ketten statt Einzelprompt</a:t>
            </a:r>
            <a:endParaRPr lang="en-US" sz="1500" dirty="0"/>
          </a:p>
        </p:txBody>
      </p:sp>
      <p:sp>
        <p:nvSpPr>
          <p:cNvPr id="7" name="Text 5"/>
          <p:cNvSpPr/>
          <p:nvPr/>
        </p:nvSpPr>
        <p:spPr>
          <a:xfrm>
            <a:off x="1143000" y="22860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heise beschreibt zwei kombinierbare Techniken: Beim „Context Engineering“ werden stabile Regeln, situative Unterlagen und bedarfsgesteuerte Zusatzinformationen gezielt in den Prompt-Kontext eingebaut. Bei der „Prompt-Ketten“-Strategie wird eine komplexe Aufgabe an sinnvollen Übergabepunkten in einzelne Schritte zerlegt, wobei jedes Zwischenergebnis als Prüfpunkt dient. Das erhöht die Kontrolle bei wiederkehrenden, komplexen KI-Aufgaben gegenüber einem einzigen langen Prompt.</a:t>
            </a:r>
            <a:endParaRPr lang="en-US" sz="1150" dirty="0"/>
          </a:p>
        </p:txBody>
      </p:sp>
      <p:sp>
        <p:nvSpPr>
          <p:cNvPr id="8" name="Text 6">
            <a:hlinkClick r:id="rId1" tooltip=""/>
          </p:cNvPr>
          <p:cNvSpPr/>
          <p:nvPr/>
        </p:nvSpPr>
        <p:spPr>
          <a:xfrm>
            <a:off x="1143000" y="30815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9" name="Shape 7"/>
          <p:cNvSpPr/>
          <p:nvPr/>
        </p:nvSpPr>
        <p:spPr>
          <a:xfrm>
            <a:off x="640080" y="4462272"/>
            <a:ext cx="310896" cy="310896"/>
          </a:xfrm>
          <a:prstGeom prst="ellipse">
            <a:avLst/>
          </a:prstGeom>
          <a:solidFill>
            <a:srgbClr val="F0A63D"/>
          </a:solidFill>
          <a:ln/>
        </p:spPr>
      </p:sp>
      <p:sp>
        <p:nvSpPr>
          <p:cNvPr id="10" name="Text 8"/>
          <p:cNvSpPr/>
          <p:nvPr/>
        </p:nvSpPr>
        <p:spPr>
          <a:xfrm>
            <a:off x="640080" y="4462272"/>
            <a:ext cx="310896" cy="310896"/>
          </a:xfrm>
          <a:prstGeom prst="rect">
            <a:avLst/>
          </a:prstGeom>
          <a:noFill/>
          <a:ln/>
        </p:spPr>
        <p:txBody>
          <a:bodyPr wrap="square" lIns="0" tIns="0" rIns="0" bIns="0" rtlCol="0" anchor="ctr"/>
          <a:lstStyle/>
          <a:p>
            <a:pPr algn="ctr" indent="0" marL="0">
              <a:buNone/>
            </a:pPr>
            <a:r>
              <a:rPr lang="en-US" sz="1300" b="1" dirty="0">
                <a:solidFill>
                  <a:srgbClr val="1C1F26"/>
                </a:solidFill>
                <a:latin typeface="Calibri" pitchFamily="34" charset="0"/>
                <a:ea typeface="Calibri" pitchFamily="34" charset="-122"/>
                <a:cs typeface="Calibri" pitchFamily="34" charset="-120"/>
              </a:rPr>
              <a:t>2</a:t>
            </a:r>
            <a:endParaRPr lang="en-US" sz="1300" dirty="0"/>
          </a:p>
        </p:txBody>
      </p:sp>
      <p:sp>
        <p:nvSpPr>
          <p:cNvPr id="11" name="Text 9"/>
          <p:cNvSpPr/>
          <p:nvPr/>
        </p:nvSpPr>
        <p:spPr>
          <a:xfrm>
            <a:off x="1143000" y="4434840"/>
            <a:ext cx="10408615" cy="36576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Vom Chatfenster zum wiederverwendbaren Claude-Skill</a:t>
            </a:r>
            <a:endParaRPr lang="en-US" sz="1500" dirty="0"/>
          </a:p>
        </p:txBody>
      </p:sp>
      <p:sp>
        <p:nvSpPr>
          <p:cNvPr id="12" name="Text 10"/>
          <p:cNvSpPr/>
          <p:nvPr/>
        </p:nvSpPr>
        <p:spPr>
          <a:xfrm>
            <a:off x="1143000" y="4800600"/>
            <a:ext cx="10408615" cy="795528"/>
          </a:xfrm>
          <a:prstGeom prst="rect">
            <a:avLst/>
          </a:prstGeom>
          <a:noFill/>
          <a:ln/>
        </p:spPr>
        <p:txBody>
          <a:bodyPr wrap="square" lIns="0" tIns="0" rIns="0" bIns="0" rtlCol="0" anchor="t"/>
          <a:lstStyle/>
          <a:p>
            <a:pPr indent="0" marL="0">
              <a:lnSpc>
                <a:spcPct val="120000"/>
              </a:lnSpc>
              <a:buNone/>
            </a:pPr>
            <a:r>
              <a:rPr lang="en-US" sz="1150" dirty="0">
                <a:solidFill>
                  <a:srgbClr val="565C68"/>
                </a:solidFill>
                <a:latin typeface="Calibri" pitchFamily="34" charset="0"/>
                <a:ea typeface="Calibri" pitchFamily="34" charset="-122"/>
                <a:cs typeface="Calibri" pitchFamily="34" charset="-120"/>
              </a:rPr>
              <a:t>t3n erklärt den Workflow-Gedanken hinter Claude Skills: Ein Skill ist eine abgelegte, wiederverwendbare Arbeitsanweisung mit fest hinterlegten Standards, Kriterien und Beispielen für eine bestimmte Aufgabe. Claude wendet diese Vorgaben automatisch an oder der Skill wird gezielt manuell ausgelöst – so wird aus einem einmalig guten Chatverlauf ein wiederholbarer Baustein. Einschränkung: Ein Skill kann nur so klar sein wie der zugrunde liegende Prozess, den er abbildet.</a:t>
            </a:r>
            <a:endParaRPr lang="en-US" sz="1150" dirty="0"/>
          </a:p>
        </p:txBody>
      </p:sp>
      <p:sp>
        <p:nvSpPr>
          <p:cNvPr id="13" name="Text 11">
            <a:hlinkClick r:id="rId2" tooltip=""/>
          </p:cNvPr>
          <p:cNvSpPr/>
          <p:nvPr/>
        </p:nvSpPr>
        <p:spPr>
          <a:xfrm>
            <a:off x="1143000" y="5596128"/>
            <a:ext cx="10408615" cy="256032"/>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t3n.de</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14. SEPTEMBER 2026</a:t>
            </a:r>
            <a:endParaRPr lang="en-US" sz="1100" dirty="0"/>
          </a:p>
        </p:txBody>
      </p:sp>
      <p:sp>
        <p:nvSpPr>
          <p:cNvPr id="3" name="Shape 1"/>
          <p:cNvSpPr/>
          <p:nvPr/>
        </p:nvSpPr>
        <p:spPr>
          <a:xfrm>
            <a:off x="6095848" y="1371600"/>
            <a:ext cx="0" cy="5029200"/>
          </a:xfrm>
          <a:prstGeom prst="line">
            <a:avLst/>
          </a:prstGeom>
          <a:noFill/>
          <a:ln w="9525">
            <a:solidFill>
              <a:srgbClr val="E7E4DE"/>
            </a:solidFill>
            <a:prstDash val="solid"/>
          </a:ln>
        </p:spPr>
      </p:sp>
      <p:sp>
        <p:nvSpPr>
          <p:cNvPr id="4" name="Text 2"/>
          <p:cNvSpPr/>
          <p:nvPr/>
        </p:nvSpPr>
        <p:spPr>
          <a:xfrm>
            <a:off x="640080"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REGULIERUNG/POLITIK</a:t>
            </a:r>
            <a:endParaRPr lang="en-US" sz="1600" dirty="0"/>
          </a:p>
        </p:txBody>
      </p:sp>
      <p:sp>
        <p:nvSpPr>
          <p:cNvPr id="5" name="Text 3"/>
          <p:cNvSpPr/>
          <p:nvPr/>
        </p:nvSpPr>
        <p:spPr>
          <a:xfrm>
            <a:off x="640080"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EU-Kommission verschickt Auskunftsersuchen an über 30 KI-Firmen</a:t>
            </a:r>
            <a:endParaRPr lang="en-US" sz="1500" dirty="0"/>
          </a:p>
        </p:txBody>
      </p:sp>
      <p:sp>
        <p:nvSpPr>
          <p:cNvPr id="6" name="Text 4"/>
          <p:cNvSpPr/>
          <p:nvPr/>
        </p:nvSpPr>
        <p:spPr>
          <a:xfrm>
            <a:off x="640080"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Nach mehreren Sicherheitsvorfällen hat die EU-Kommission formale Auskunftsersuchen auf Grundlage des AI Act an mehr als 30 KI-Unternehmen verschickt. Bei Verstößen kann sie Risikominderungsmaßnahmen verlangen, Modelle beschränken/zurückrufen oder Geldbußen bis zu 15 Mio. Euro bzw. 3 % des weltweiten Jahresumsatzes verhängen. Die Kommission arbeitet zudem an eigenen sicheren Testumgebungen, in Abstimmung mit Anthropic und OpenAI.</a:t>
            </a:r>
            <a:endParaRPr lang="en-US" sz="1200" dirty="0"/>
          </a:p>
        </p:txBody>
      </p:sp>
      <p:sp>
        <p:nvSpPr>
          <p:cNvPr id="7" name="Text 5">
            <a:hlinkClick r:id="rId1" tooltip=""/>
          </p:cNvPr>
          <p:cNvSpPr/>
          <p:nvPr/>
        </p:nvSpPr>
        <p:spPr>
          <a:xfrm>
            <a:off x="640080"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heise.de</a:t>
            </a:r>
            <a:endParaRPr lang="en-US" sz="1050" dirty="0"/>
          </a:p>
        </p:txBody>
      </p:sp>
      <p:sp>
        <p:nvSpPr>
          <p:cNvPr id="8" name="Text 6"/>
          <p:cNvSpPr/>
          <p:nvPr/>
        </p:nvSpPr>
        <p:spPr>
          <a:xfrm>
            <a:off x="640080"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Amodei fordert KI-Tempolimit – Altman und Musk stimmen teilweise zu</a:t>
            </a:r>
            <a:endParaRPr lang="en-US" sz="1500" dirty="0"/>
          </a:p>
        </p:txBody>
      </p:sp>
      <p:sp>
        <p:nvSpPr>
          <p:cNvPr id="9" name="Text 7"/>
          <p:cNvSpPr/>
          <p:nvPr/>
        </p:nvSpPr>
        <p:spPr>
          <a:xfrm>
            <a:off x="640080"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Anthropic-CEO Dario Amodei warnt vor „rekursiver Selbstverbesserung“ von KI und schlägt unabhängige Prüfer in KI-Laboren sowie globale Sicherheitsabkommen nach Vorbild der SALT-Verträge vor. Sam Altman und Elon Musk pflichteten der Forderung nach unabhängiger Überwachung teilweise bei, ebenso DeepMind-Chef Demis Hassabis. Altman kündigte zudem an, dass OpenAI 2026 aus Sicherheitsgründen nicht an die Börse geht.</a:t>
            </a:r>
            <a:endParaRPr lang="en-US" sz="1200" dirty="0"/>
          </a:p>
        </p:txBody>
      </p:sp>
      <p:sp>
        <p:nvSpPr>
          <p:cNvPr id="10" name="Text 8">
            <a:hlinkClick r:id="rId2" tooltip=""/>
          </p:cNvPr>
          <p:cNvSpPr/>
          <p:nvPr/>
        </p:nvSpPr>
        <p:spPr>
          <a:xfrm>
            <a:off x="640080"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1" name="Text 9"/>
          <p:cNvSpPr/>
          <p:nvPr/>
        </p:nvSpPr>
        <p:spPr>
          <a:xfrm>
            <a:off x="6370168" y="777240"/>
            <a:ext cx="5181448" cy="365760"/>
          </a:xfrm>
          <a:prstGeom prst="rect">
            <a:avLst/>
          </a:prstGeom>
          <a:noFill/>
          <a:ln/>
        </p:spPr>
        <p:txBody>
          <a:bodyPr wrap="square" rtlCol="0" anchor="ctr"/>
          <a:lstStyle/>
          <a:p>
            <a:pPr indent="0" marL="0">
              <a:buNone/>
            </a:pPr>
            <a:r>
              <a:rPr lang="en-US" sz="1600" b="1" spc="100" kern="0" dirty="0">
                <a:solidFill>
                  <a:srgbClr val="1C1F26"/>
                </a:solidFill>
                <a:latin typeface="Calibri" pitchFamily="34" charset="0"/>
                <a:ea typeface="Calibri" pitchFamily="34" charset="-122"/>
                <a:cs typeface="Calibri" pitchFamily="34" charset="-120"/>
              </a:rPr>
              <a:t>BEDEUTENDE FORSCHUNG</a:t>
            </a:r>
            <a:endParaRPr lang="en-US" sz="1600" dirty="0"/>
          </a:p>
        </p:txBody>
      </p:sp>
      <p:sp>
        <p:nvSpPr>
          <p:cNvPr id="12" name="Text 10"/>
          <p:cNvSpPr/>
          <p:nvPr/>
        </p:nvSpPr>
        <p:spPr>
          <a:xfrm>
            <a:off x="6370168" y="1371600"/>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Denkschritte von KI-Modellen in internen Zuständen nachweisbar</a:t>
            </a:r>
            <a:endParaRPr lang="en-US" sz="1500" dirty="0"/>
          </a:p>
        </p:txBody>
      </p:sp>
      <p:sp>
        <p:nvSpPr>
          <p:cNvPr id="13" name="Text 11"/>
          <p:cNvSpPr/>
          <p:nvPr/>
        </p:nvSpPr>
        <p:spPr>
          <a:xfrm>
            <a:off x="6370168" y="1938528"/>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Forscher von KAIST und Naver AI Lab definierten acht wiederkehrende Denkoperationen und ließen drei Sprachmodelle Matheaufgaben lösen. Die Denkoperationen lassen sich in allen drei Modellen klar in den internen Repräsentationen trennen, am stärksten in den mittleren Schichten. Ein reiner Text-Klassifikator schneidet dabei schlechter ab als einer, der die internen Repräsentationen nutzt.</a:t>
            </a:r>
            <a:endParaRPr lang="en-US" sz="1200" dirty="0"/>
          </a:p>
        </p:txBody>
      </p:sp>
      <p:sp>
        <p:nvSpPr>
          <p:cNvPr id="14" name="Text 12">
            <a:hlinkClick r:id="rId3" tooltip=""/>
          </p:cNvPr>
          <p:cNvSpPr/>
          <p:nvPr/>
        </p:nvSpPr>
        <p:spPr>
          <a:xfrm>
            <a:off x="6370168" y="4133088"/>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5" name="Text 13"/>
          <p:cNvSpPr/>
          <p:nvPr/>
        </p:nvSpPr>
        <p:spPr>
          <a:xfrm>
            <a:off x="6370168" y="4133088"/>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Zweijährige Studie: KI-Verbote schaden Studierenden mehr, als sie helfen</a:t>
            </a:r>
            <a:endParaRPr lang="en-US" sz="1500" dirty="0"/>
          </a:p>
        </p:txBody>
      </p:sp>
      <p:sp>
        <p:nvSpPr>
          <p:cNvPr id="16" name="Text 14"/>
          <p:cNvSpPr/>
          <p:nvPr/>
        </p:nvSpPr>
        <p:spPr>
          <a:xfrm>
            <a:off x="6370168" y="4700016"/>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Thibault Schrepel (Vrije Universiteit Amsterdam) untersuchte 2024/2025 mit 66 bzw. 164 Studierenden, wie sich ein KI-Verbot, unangeleitete Nutzung und gezieltes Training auf Arbeitsergebnisse auswirken. Die Gruppe ohne KI-Zugang landete durchgängig auf dem letzten Platz, die trainierte Gruppe schnitt am besten ab. Schrepel räumt ein, dass seine ursprüngliche Annahme falsch war, und empfiehlt Hochschulen, restriktive Verbote zurückhaltend einzusetzen.</a:t>
            </a:r>
            <a:endParaRPr lang="en-US" sz="1200" dirty="0"/>
          </a:p>
        </p:txBody>
      </p:sp>
      <p:sp>
        <p:nvSpPr>
          <p:cNvPr id="17" name="Text 15">
            <a:hlinkClick r:id="rId4" tooltip=""/>
          </p:cNvPr>
          <p:cNvSpPr/>
          <p:nvPr/>
        </p:nvSpPr>
        <p:spPr>
          <a:xfrm>
            <a:off x="6370168" y="6894576"/>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
        <p:nvSpPr>
          <p:cNvPr id="18" name="Text 16"/>
          <p:cNvSpPr/>
          <p:nvPr/>
        </p:nvSpPr>
        <p:spPr>
          <a:xfrm>
            <a:off x="6370168" y="6894576"/>
            <a:ext cx="5181448" cy="548640"/>
          </a:xfrm>
          <a:prstGeom prst="rect">
            <a:avLst/>
          </a:prstGeom>
          <a:noFill/>
          <a:ln/>
        </p:spPr>
        <p:txBody>
          <a:bodyPr wrap="square" lIns="0" tIns="0" rIns="0" bIns="0" rtlCol="0" anchor="t"/>
          <a:lstStyle/>
          <a:p>
            <a:pPr indent="0" marL="0">
              <a:buNone/>
            </a:pPr>
            <a:r>
              <a:rPr lang="en-US" sz="1500" b="1" dirty="0">
                <a:solidFill>
                  <a:srgbClr val="1C1F26"/>
                </a:solidFill>
                <a:latin typeface="Calibri" pitchFamily="34" charset="0"/>
                <a:ea typeface="Calibri" pitchFamily="34" charset="-122"/>
                <a:cs typeface="Calibri" pitchFamily="34" charset="-120"/>
              </a:rPr>
              <a:t>GPT-6 Astra zeigt Fortschritte beim räumlichen Verständnis</a:t>
            </a:r>
            <a:endParaRPr lang="en-US" sz="1500" dirty="0"/>
          </a:p>
        </p:txBody>
      </p:sp>
      <p:sp>
        <p:nvSpPr>
          <p:cNvPr id="19" name="Text 17"/>
          <p:cNvSpPr/>
          <p:nvPr/>
        </p:nvSpPr>
        <p:spPr>
          <a:xfrm>
            <a:off x="6370168" y="7461504"/>
            <a:ext cx="5181448" cy="2377440"/>
          </a:xfrm>
          <a:prstGeom prst="rect">
            <a:avLst/>
          </a:prstGeom>
          <a:noFill/>
          <a:ln/>
        </p:spPr>
        <p:txBody>
          <a:bodyPr wrap="square" lIns="0" tIns="0" rIns="0" bIns="0" rtlCol="0" anchor="t"/>
          <a:lstStyle/>
          <a:p>
            <a:pPr indent="0" marL="0">
              <a:lnSpc>
                <a:spcPct val="125000"/>
              </a:lnSpc>
              <a:buNone/>
            </a:pPr>
            <a:r>
              <a:rPr lang="en-US" sz="1200" dirty="0">
                <a:solidFill>
                  <a:srgbClr val="565C68"/>
                </a:solidFill>
                <a:latin typeface="Calibri" pitchFamily="34" charset="0"/>
                <a:ea typeface="Calibri" pitchFamily="34" charset="-122"/>
                <a:cs typeface="Calibri" pitchFamily="34" charset="-120"/>
              </a:rPr>
              <a:t>Auf dem Robotik-Benchmark StationeryBench wurden GPT-6 Astra und Ai2s MolmoAct2 bei fünf Manipulationsaufgaben verglichen. GPT-6 Astra schloss 7 von 100 Aufgaben vollständig ab (MolmoAct2: 0) und erzielte einen medianen Fortschrittswert von 46 von 100 Punkten gegenüber 12 bei MolmoAct2. Forscher Yoav Artzi sieht darin einen Sprung im räumlichen Verständnis und vermutet ein Training mit umfangreichen 3D-Daten.</a:t>
            </a:r>
            <a:endParaRPr lang="en-US" sz="1200" dirty="0"/>
          </a:p>
        </p:txBody>
      </p:sp>
      <p:sp>
        <p:nvSpPr>
          <p:cNvPr id="20" name="Text 18">
            <a:hlinkClick r:id="rId5" tooltip=""/>
          </p:cNvPr>
          <p:cNvSpPr/>
          <p:nvPr/>
        </p:nvSpPr>
        <p:spPr>
          <a:xfrm>
            <a:off x="6370168" y="9656064"/>
            <a:ext cx="5181448" cy="274320"/>
          </a:xfrm>
          <a:prstGeom prst="rect">
            <a:avLst/>
          </a:prstGeom>
          <a:noFill/>
          <a:ln/>
        </p:spPr>
        <p:txBody>
          <a:bodyPr wrap="square" lIns="0" tIns="0" rIns="0" bIns="0" rtlCol="0" anchor="t"/>
          <a:lstStyle/>
          <a:p>
            <a:pPr indent="0" marL="0">
              <a:buNone/>
            </a:pPr>
            <a:r>
              <a:rPr lang="en-US" sz="1050" i="1" u="sng" dirty="0">
                <a:solidFill>
                  <a:srgbClr val="B8690A"/>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the-decoder.de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EFCF9"/>
        </a:solidFill>
      </p:bgPr>
    </p:bg>
    <p:spTree>
      <p:nvGrpSpPr>
        <p:cNvPr id="1" name=""/>
        <p:cNvGrpSpPr/>
        <p:nvPr/>
      </p:nvGrpSpPr>
      <p:grpSpPr>
        <a:xfrm>
          <a:off x="0" y="0"/>
          <a:ext cx="0" cy="0"/>
          <a:chOff x="0" y="0"/>
          <a:chExt cx="0" cy="0"/>
        </a:xfrm>
      </p:grpSpPr>
      <p:sp>
        <p:nvSpPr>
          <p:cNvPr id="2" name="Text 0"/>
          <p:cNvSpPr/>
          <p:nvPr/>
        </p:nvSpPr>
        <p:spPr>
          <a:xfrm>
            <a:off x="640080" y="320040"/>
            <a:ext cx="10911535" cy="274320"/>
          </a:xfrm>
          <a:prstGeom prst="rect">
            <a:avLst/>
          </a:prstGeom>
          <a:noFill/>
          <a:ln/>
        </p:spPr>
        <p:txBody>
          <a:bodyPr wrap="square" rtlCol="0" anchor="ctr"/>
          <a:lstStyle/>
          <a:p>
            <a:pPr indent="0" marL="0">
              <a:buNone/>
            </a:pPr>
            <a:r>
              <a:rPr lang="en-US" sz="1100" dirty="0">
                <a:solidFill>
                  <a:srgbClr val="9BA3B0"/>
                </a:solidFill>
                <a:latin typeface="Calibri" pitchFamily="34" charset="0"/>
                <a:ea typeface="Calibri" pitchFamily="34" charset="-122"/>
                <a:cs typeface="Calibri" pitchFamily="34" charset="-120"/>
              </a:rPr>
              <a:t>KI-Update — 14. SEPTEMBER 2026</a:t>
            </a:r>
            <a:endParaRPr lang="en-US" sz="1100" dirty="0"/>
          </a:p>
        </p:txBody>
      </p:sp>
      <p:sp>
        <p:nvSpPr>
          <p:cNvPr id="3" name="Text 1"/>
          <p:cNvSpPr/>
          <p:nvPr/>
        </p:nvSpPr>
        <p:spPr>
          <a:xfrm>
            <a:off x="640080" y="777240"/>
            <a:ext cx="10911535" cy="457200"/>
          </a:xfrm>
          <a:prstGeom prst="rect">
            <a:avLst/>
          </a:prstGeom>
          <a:noFill/>
          <a:ln/>
        </p:spPr>
        <p:txBody>
          <a:bodyPr wrap="square" rtlCol="0" anchor="ctr"/>
          <a:lstStyle/>
          <a:p>
            <a:pPr indent="0" marL="0">
              <a:buNone/>
            </a:pPr>
            <a:r>
              <a:rPr lang="en-US" sz="2000" b="1" dirty="0">
                <a:solidFill>
                  <a:srgbClr val="1C1F26"/>
                </a:solidFill>
                <a:latin typeface="Calibri" pitchFamily="34" charset="0"/>
                <a:ea typeface="Calibri" pitchFamily="34" charset="-122"/>
                <a:cs typeface="Calibri" pitchFamily="34" charset="-120"/>
              </a:rPr>
              <a:t>Weitere gesichtete, aber ausgelassene Punkte</a:t>
            </a:r>
            <a:endParaRPr lang="en-US" sz="2000" dirty="0"/>
          </a:p>
        </p:txBody>
      </p:sp>
      <p:sp>
        <p:nvSpPr>
          <p:cNvPr id="4" name="Text 2"/>
          <p:cNvSpPr/>
          <p:nvPr/>
        </p:nvSpPr>
        <p:spPr>
          <a:xfrm>
            <a:off x="640080" y="1417320"/>
            <a:ext cx="10911535" cy="4983480"/>
          </a:xfrm>
          <a:prstGeom prst="rect">
            <a:avLst/>
          </a:prstGeom>
          <a:noFill/>
          <a:ln/>
        </p:spPr>
        <p:txBody>
          <a:bodyPr wrap="square" rtlCol="0" anchor="t"/>
          <a:lstStyle/>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1" invalidUrl="" action="" tgtFrame="" tooltip="" history="1" highlightClick="0" endSnd="0">
                  <a:extLst>
                    <a:ext uri="{A12FA001-AC4F-418D-AE19-62706E023703}">
                      <ahyp:hlinkClr xmlns:ahyp="http://schemas.microsoft.com/office/drawing/2018/hyperlinkcolor" val="tx"/>
                    </a:ext>
                  </a:extLst>
                </a:hlinkClick>
              </a:rPr>
              <a:t>Dario Amodei fordert Tempolimit für KI-Entwicklung</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2" invalidUrl="" action="" tgtFrame="" tooltip="" history="1" highlightClick="0" endSnd="0">
                  <a:extLst>
                    <a:ext uri="{A12FA001-AC4F-418D-AE19-62706E023703}">
                      <ahyp:hlinkClr xmlns:ahyp="http://schemas.microsoft.com/office/drawing/2018/hyperlinkcolor" val="tx"/>
                    </a:ext>
                  </a:extLst>
                </a:hlinkClick>
              </a:rPr>
              <a:t>Nvidia erwägt Milliarden-Investition in Anthropics Börsengang</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(the-decoder.de)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3" invalidUrl="" action="" tgtFrame="" tooltip="" history="1" highlightClick="0" endSnd="0">
                  <a:extLst>
                    <a:ext uri="{A12FA001-AC4F-418D-AE19-62706E023703}">
                      <ahyp:hlinkClr xmlns:ahyp="http://schemas.microsoft.com/office/drawing/2018/hyperlinkcolor" val="tx"/>
                    </a:ext>
                  </a:extLst>
                </a:hlinkClick>
              </a:rPr>
              <a:t>KI-Agenten in Visual Studio/VS Code produktiv einsetzen</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a:p>
            <a:pPr marL="342900" indent="-342900">
              <a:lnSpc>
                <a:spcPct val="150000"/>
              </a:lnSpc>
              <a:spcAft>
                <a:spcPts val="1000"/>
              </a:spcAft>
              <a:buSzPct val="100000"/>
              <a:buChar char="•"/>
            </a:pPr>
            <a:r>
              <a:rPr lang="en-US" sz="1350" u="sng" dirty="0">
                <a:solidFill>
                  <a:srgbClr val="1C1F26"/>
                </a:solidFill>
                <a:latin typeface="Calibri" pitchFamily="34" charset="0"/>
                <a:ea typeface="Calibri" pitchFamily="34" charset="-122"/>
                <a:cs typeface="Calibri" pitchFamily="34" charset="-120"/>
                <a:hlinkClick r:id="rId4" invalidUrl="" action="" tgtFrame="" tooltip="" history="1" highlightClick="0" endSnd="0">
                  <a:extLst>
                    <a:ext uri="{A12FA001-AC4F-418D-AE19-62706E023703}">
                      <ahyp:hlinkClr xmlns:ahyp="http://schemas.microsoft.com/office/drawing/2018/hyperlinkcolor" val="tx"/>
                    </a:ext>
                  </a:extLst>
                </a:hlinkClick>
              </a:rPr>
              <a:t>Project Hummingbird: KI-Agenten für Zero-CVE-Container</a:t>
            </a:r>
            <a:pPr indent="0" marL="0">
              <a:lnSpc>
                <a:spcPct val="150000"/>
              </a:lnSpc>
              <a:spcAft>
                <a:spcPts val="1000"/>
              </a:spcAft>
              <a:buNone/>
            </a:pPr>
            <a:r>
              <a:rPr lang="en-US" sz="1200" i="1" dirty="0">
                <a:solidFill>
                  <a:srgbClr val="9BA3B0"/>
                </a:solidFill>
                <a:latin typeface="Calibri" pitchFamily="34" charset="0"/>
                <a:ea typeface="Calibri" pitchFamily="34" charset="-122"/>
                <a:cs typeface="Calibri" pitchFamily="34" charset="-120"/>
              </a:rPr>
              <a:t>  (heise.de)</a:t>
            </a:r>
            <a:endParaRPr lang="en-US" sz="13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2026-09-14T06:16:04Z</dcterms:created>
  <dcterms:modified xsi:type="dcterms:W3CDTF">2026-09-14T06:16:04Z</dcterms:modified>
</cp:coreProperties>
</file>